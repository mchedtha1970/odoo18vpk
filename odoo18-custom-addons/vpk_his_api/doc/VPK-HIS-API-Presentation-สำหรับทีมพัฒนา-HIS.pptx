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Prompt"/>
              </a:defRPr>
            </a:pPr>
            <a:r>
              <a:t>โรงพยาบาลวชิระภูเก็ต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rompt"/>
              </a:defRPr>
            </a:pPr>
            <a:r>
              <a:t>HIS → ERP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D4E8"/>
                </a:solidFill>
                <a:latin typeface="Prompt"/>
              </a:defRPr>
            </a:pPr>
            <a:r>
              <a:t>REST API Overview  ·  Revenue · Stock Issue · Stock Requisition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B0C8"/>
                </a:solidFill>
                <a:latin typeface="Prompt"/>
              </a:defRPr>
            </a:pPr>
            <a:r>
              <a:t>ร่างนำเสนอ  ·  26 สิงหาคม 2569  ·  โรงพยาบาลวชิระภูเก็ต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1. ภาพรวมและหลักการออกแบบ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2. สถาปัตยกรรมและเส้นทางข้อมูล (Data Flow)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3. รูปแบบร่วม: Auth · Batch · Idempotency · Reversal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4. API รายได้ — POST /revenue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5. API ตัดจ่ายสินค้า — POST /stock-issues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6. API เบิกเติมคลัง — POST /stock-requisitions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7. Lookups · ข้อผิดพลาด · Checklist สำหรับทีม 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Prompt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ompt"/>
              </a:defRPr>
            </a:pPr>
            <a:r>
              <a:t>หลักการออกแบบ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rompt"/>
              </a:defRPr>
            </a:pPr>
            <a:r>
              <a:t>Design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ทำไมต้องแยก 3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ปัญหาที่แก้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รายได้ ตัดสต็อก และเบิกเติมคลัง เป็นคนละธุรกิจ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ข้อมูล PII ต่างกัน — รายได้ห้าม HN/VN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เอกสาร Odoo ต่างกัน — Invoice vs Picking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ทีมตรวจสอบต่างกัน — บัญชี vs เภสัช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หลักการหลัก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Staging ก่อน Post — ไม่ลงบัญชี/คลังทันที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Idempotency: source_system + external_id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Validate อัตโนมัติ → state ready | error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Reversal สำหรับแก้ชุดที่ Post แล้ว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ไม่สร้าง master data ใหม่ — รหัสต้องมีใน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สถาปัตยกรรมภาพรวม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00400" cy="438912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Prompt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5C"/>
                </a:solidFill>
                <a:latin typeface="Prompt"/>
              </a:defRPr>
            </a:pPr>
            <a:r>
              <a:t>ระบบ 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Front HIS / ห้องยา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POS / Cashier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Pharmacy module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ส่ง JSON ผ่าน HTTPS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Header: X-Api-Key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828800"/>
            <a:ext cx="3840480" cy="256032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rompt"/>
              </a:defRPr>
            </a:pPr>
            <a:r>
              <a:t>REST API</a:t>
            </a:r>
            <a:br/>
            <a:r>
              <a:t>/vpk/api/v1/his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2004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Prompt"/>
              </a:defRPr>
            </a:pPr>
            <a:r>
              <a:t>/revenue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Prompt"/>
              </a:defRPr>
            </a:pPr>
            <a:r>
              <a:t>/stock-issues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Prompt"/>
              </a:defRPr>
            </a:pPr>
            <a:r>
              <a:t>/stock-requisitions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474720" cy="438912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  <a:latin typeface="Prompt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5C"/>
                </a:solidFill>
                <a:latin typeface="Prompt"/>
              </a:defRPr>
            </a:pPr>
            <a:r>
              <a:t>Odoo 18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Staging Batch (คิว)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Validate → Ready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เจ้าหน้าที่ Post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→ บัญชีรายได้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Prompt"/>
              </a:defRPr>
            </a:pPr>
            <a:r>
              <a:t>→ ตัดสต็อก / โอนคลัง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3108960"/>
            <a:ext cx="365760" cy="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63840" y="3108960"/>
            <a:ext cx="365760" cy="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6B6B"/>
                </a:solidFill>
                <a:latin typeface="Prompt"/>
              </a:defRPr>
            </a:pPr>
            <a:r>
              <a:t>หลักการ: Staging ก่อนลงบัญชี/คลัง · Idempotency · แยก endpoint ตามประเภทธุรกิจ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Lifecycle ชุดข้อมูล (Batch) — ใช้ร่วมทุก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560320"/>
            <a:ext cx="1783080" cy="100584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1. HIS ส่ง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39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rompt"/>
              </a:defRPr>
            </a:pPr>
            <a:r>
              <a:t>POST + API Key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3063240.0"/>
            <a:ext cx="164592" cy="0.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2032" y="2560320"/>
            <a:ext cx="1783080" cy="100584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2. 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3639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rompt"/>
              </a:defRPr>
            </a:pPr>
            <a:r>
              <a:t>draft → validate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25112" y="3063240.0"/>
            <a:ext cx="164592" cy="0.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9704" y="2560320"/>
            <a:ext cx="1783080" cy="10058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3.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3639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rompt"/>
              </a:defRPr>
            </a:pPr>
            <a:r>
              <a:t>รอเจ้าหน้าที่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72784" y="3063240.0"/>
            <a:ext cx="164592" cy="0.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37376" y="2560320"/>
            <a:ext cx="1783080" cy="100584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4.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639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rompt"/>
              </a:defRPr>
            </a:pPr>
            <a:r>
              <a:t>ลงบัญชี/คลัง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0456" y="3063240.0"/>
            <a:ext cx="164592" cy="0.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85048" y="2560320"/>
            <a:ext cx="1783080" cy="1005840"/>
          </a:xfrm>
          <a:prstGeom prst="roundRect">
            <a:avLst/>
          </a:prstGeom>
          <a:solidFill>
            <a:srgbClr val="6C3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5. Posted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3639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rompt"/>
              </a:defRPr>
            </a:pPr>
            <a:r>
              <a:t>เสร็จสิ้น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รูปแบบร่วมที่ทีม HIS ต้องรู้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Base URL: /vpk/api/v1/his  ·  Auth: X-Api-Key หรือ Authorization: Bearer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ฟิลด์บังคับทุก endpoint: external_id, source_system, business_date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Idempotency: คีย์ = source_system + external_id — ส่งซ้ำก่อน Post แทนที่ได้, หลัง Post ได้ HTTP 200 unchanged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Reversal: batch_type=reversal + original_external_id ชี้ไปชุดที่ Post แล้ว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สถานะ: draft → ready | error → posted (หรือ cancelled ก่อน Post)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ตรวจสถานะ: GET /batches/{external_id}?source_system=...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6B6B"/>
                </a:solidFill>
                <a:latin typeface="Prompt"/>
              </a:defRPr>
            </a:pPr>
            <a:r>
              <a:t>Health check (ไม่ต้อง auth): GET /vpk/api/v1/his/health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Prompt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ompt"/>
              </a:defRPr>
            </a:pPr>
            <a:r>
              <a:t>API รายได้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rompt"/>
              </a:defRPr>
            </a:pPr>
            <a:r>
              <a:t>POST /vpk/api/v1/his/revenue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3D5C"/>
                </a:solidFill>
                <a:latin typeface="Prompt"/>
              </a:defRPr>
            </a:pPr>
            <a:r>
              <a:t>Data Flow — Revenue (สรุปรายได้รายวัน)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HIS ปิดกะ / ปิดวัน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247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รวมยอดขายและรับชำระ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3611880.0" y="173736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2057400"/>
            <a:ext cx="5029200" cy="68580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POST /revenue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30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sales[] + payments[] + control_totals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  <a:r>
              <a:t>HTTP 202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1880.0" y="274320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3063240"/>
            <a:ext cx="502920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ERP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36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แมปสิทธิ์ · วิธีชำระ · บัญชี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089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</a:p>
        </p:txBody>
      </p:sp>
      <p:cxnSp>
        <p:nvCxnSpPr>
          <p:cNvPr id="15" name="Connector 14"/>
          <p:cNvCxnSpPr/>
          <p:nvPr/>
        </p:nvCxnSpPr>
        <p:spPr>
          <a:xfrm>
            <a:off x="3611880.0" y="374904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4069080"/>
            <a:ext cx="5029200" cy="6858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คิว HIS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422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state =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114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</a:p>
        </p:txBody>
      </p:sp>
      <p:cxnSp>
        <p:nvCxnSpPr>
          <p:cNvPr id="19" name="Connector 18"/>
          <p:cNvCxnSpPr/>
          <p:nvPr/>
        </p:nvCxnSpPr>
        <p:spPr>
          <a:xfrm>
            <a:off x="3611880.0" y="475488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7280" y="5074920"/>
            <a:ext cx="5029200" cy="685800"/>
          </a:xfrm>
          <a:prstGeom prst="roundRect">
            <a:avLst/>
          </a:prstGeom>
          <a:solidFill>
            <a:srgbClr val="6C3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เจ้าหน้าที่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148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บัญชี/การเงิน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206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</a:p>
        </p:txBody>
      </p:sp>
      <p:cxnSp>
        <p:nvCxnSpPr>
          <p:cNvPr id="23" name="Connector 22"/>
          <p:cNvCxnSpPr/>
          <p:nvPr/>
        </p:nvCxnSpPr>
        <p:spPr>
          <a:xfrm>
            <a:off x="3611880.0" y="576072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60807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Invoice + 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61539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ลูกหนี้สิทธิ์ / เงินสด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126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6B6B"/>
                </a:solidFill>
                <a:latin typeface="Prompt"/>
              </a:defRPr>
            </a:pPr>
            <a:r>
              <a:t>HTTP 200 ถ้าซ้ำ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Revenue — ข้อมูลสำคัญ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ส่งอะไร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sales[] — ยอดขายตามสิทธิ (entitlement_code)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payments[] — วิธีรับชำระ (cash, sso, uc…)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ticket_external_id — ผูกหลายสิทธิในใบเดียว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control_totals — คุมยอด sales/payments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service_type: op | 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ห้ามส่ง (PII)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hn, vn, cid, patient_name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national_id, birthdate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→ ระบบตัดทิ้งทั้งหมด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เอกสาร spec: VPK-HIS-SPEC-REV-001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Revenue — ตัวอย่าง Payload (ย่อ)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0"/>
          </a:xfrm>
          <a:prstGeom prst="round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>
                <a:solidFill>
                  <a:srgbClr val="333333"/>
                </a:solidFill>
                <a:latin typeface="Consolas"/>
              </a:defRPr>
            </a:pPr>
            <a:r>
              <a:t>POST /vpk/api/v1/his/revenue</a:t>
            </a:r>
            <a:br/>
            <a:br/>
            <a:r>
              <a:t>{</a:t>
            </a:r>
            <a:br/>
            <a:r>
              <a:t>  "external_id": "HIS-REV-2026-08-26-SHIFT1",</a:t>
            </a:r>
            <a:br/>
            <a:r>
              <a:t>  "source_system": "front_his",</a:t>
            </a:r>
            <a:br/>
            <a:r>
              <a:t>  "business_date": "2026-08-26",</a:t>
            </a:r>
            <a:br/>
            <a:r>
              <a:t>  "shift": "1",</a:t>
            </a:r>
            <a:br/>
            <a:r>
              <a:t>  "sales": [</a:t>
            </a:r>
            <a:br/>
            <a:r>
              <a:t>    {"entitlement_code": "SELF_PAY", "service_type": "op",</a:t>
            </a:r>
            <a:br/>
            <a:r>
              <a:t>     "amount_total": 150.00, "ticket_external_id": "POS-001"},</a:t>
            </a:r>
            <a:br/>
            <a:r>
              <a:t>    {"entitlement_code": "UC", "service_type": "op",</a:t>
            </a:r>
            <a:br/>
            <a:r>
              <a:t>     "amount_total": 80.00, "ticket_external_id": "POS-001"}</a:t>
            </a:r>
            <a:br/>
            <a:r>
              <a:t>  ],</a:t>
            </a:r>
            <a:br/>
            <a:r>
              <a:t>  "payments": [</a:t>
            </a:r>
            <a:br/>
            <a:r>
              <a:t>    {"payment_method_code": "cash", "amount": 150.00},</a:t>
            </a:r>
            <a:br/>
            <a:r>
              <a:t>    {"payment_method_code": "ar_claim", "entitlement_code": "UC", "amount": 80.00}</a:t>
            </a:r>
            <a:br/>
            <a:r>
              <a:t>  ],</a:t>
            </a:r>
            <a:br/>
            <a:r>
              <a:t>  "control_totals": {"sales_total": 230.00, "payments_total": 230.00}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Promp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ompt"/>
              </a:defRPr>
            </a:pPr>
            <a:r>
              <a:t>API ตัดจ่ายสินค้า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rompt"/>
              </a:defRPr>
            </a:pPr>
            <a:r>
              <a:t>POST /vpk/api/v1/his/stock-issues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3D5C"/>
                </a:solidFill>
                <a:latin typeface="Prompt"/>
              </a:defRPr>
            </a:pPr>
            <a:r>
              <a:t>Data Flow — Stock Issue (จ่ายยา/เวชภัณฑ์ให้คนไข้)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HIS บันทึกการจ่าย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247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ตาม HN + VN + รหัสยา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1880.0" y="173736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057400"/>
            <a:ext cx="5029200" cy="68580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POST /stock-issues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30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issues[] + warehouse + 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.0" y="274320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063240"/>
            <a:ext cx="502920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ERP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36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สินค้า · Lot · คลัง · HN/VN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.0" y="374904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4069080"/>
            <a:ext cx="5029200" cy="6858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คิว HIS ตัดจ่าย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422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state = ready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.0" y="475488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5074920"/>
            <a:ext cx="5029200" cy="685800"/>
          </a:xfrm>
          <a:prstGeom prst="roundRect">
            <a:avLst/>
          </a:prstGeom>
          <a:solidFill>
            <a:srgbClr val="6C3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เภสัช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148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ตัดสต็อก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.0" y="576072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60807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Picking HISOUT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1539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UNIT → Consumption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Stock Issues — กฎสำคัญ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บังคับ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hn + vn เมื่อ reason = patient_use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product_code ต้องมีใน ERP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lot_name / lots[] เมื่อสินค้า tracked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warehouse_code หรือ department_code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control_totals.qty_total (แนะนำ)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ไม่เกี่ยว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ไม่ใช่การเบิกเติมคลัง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ชื่อ/CID ตัดทิ้ง (เก็บแค่ HN/VN)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reason: patient_use | ward_use | expired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Spec: VPK-HIS-SPEC-STK-001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Stock Issues — ตัวอย่าง Payload (ย่อ)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0"/>
          </a:xfrm>
          <a:prstGeom prst="round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>
                <a:solidFill>
                  <a:srgbClr val="333333"/>
                </a:solidFill>
                <a:latin typeface="Consolas"/>
              </a:defRPr>
            </a:pPr>
            <a:r>
              <a:t>POST /vpk/api/v1/his/stock-issues</a:t>
            </a:r>
            <a:br/>
            <a:br/>
            <a:r>
              <a:t>{</a:t>
            </a:r>
            <a:br/>
            <a:r>
              <a:t>  "external_id": "HIS-STK-2026-08-26-OPD-1",</a:t>
            </a:r>
            <a:br/>
            <a:r>
              <a:t>  "source_system": "front_his",</a:t>
            </a:r>
            <a:br/>
            <a:r>
              <a:t>  "business_date": "2026-08-26",</a:t>
            </a:r>
            <a:br/>
            <a:r>
              <a:t>  "issues": [</a:t>
            </a:r>
            <a:br/>
            <a:r>
              <a:t>    {</a:t>
            </a:r>
            <a:br/>
            <a:r>
              <a:t>      "hn": "6500123", "vn": "6808260001",</a:t>
            </a:r>
            <a:br/>
            <a:r>
              <a:t>      "product_code": "00001", "item_type": "drug",</a:t>
            </a:r>
            <a:br/>
            <a:r>
              <a:t>      "warehouse_code": "UNIT", "qty": 10,</a:t>
            </a:r>
            <a:br/>
            <a:r>
              <a:t>      "reason": "patient_use",</a:t>
            </a:r>
            <a:br/>
            <a:r>
              <a:t>      "lots": [{"lot_name": "LOT-A", "qty": 6},</a:t>
            </a:r>
            <a:br/>
            <a:r>
              <a:t>               {"lot_name": "LOT-B", "qty": 4}]</a:t>
            </a:r>
            <a:br/>
            <a:r>
              <a:t>    }</a:t>
            </a:r>
            <a:br/>
            <a:r>
              <a:t>  ],</a:t>
            </a:r>
            <a:br/>
            <a:r>
              <a:t>  "control_totals": {"qty_total": 10}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Prompt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ompt"/>
              </a:defRPr>
            </a:pPr>
            <a:r>
              <a:t>API เบิกเติมคลัง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rompt"/>
              </a:defRPr>
            </a:pPr>
            <a:r>
              <a:t>POST /vpk/api/v1/his/stock-requisitions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3D5C"/>
                </a:solidFill>
                <a:latin typeface="Prompt"/>
              </a:defRPr>
            </a:pPr>
            <a:r>
              <a:t>Data Flow — Stock Requisition (เติมสต็อก front จากคลังหลัก)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หน่วยบริการขอเบิก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247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OPD / ห้องยาชั้น 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1880.0" y="173736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057400"/>
            <a:ext cx="5029200" cy="68580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POST /stock-requisitions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30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lines[] + source/dest warehouse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.0" y="274320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063240"/>
            <a:ext cx="502920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ERP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136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สินค้า · คลังต้นทาง/ปลายทาง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.0" y="374904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4069080"/>
            <a:ext cx="5029200" cy="6858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คิว HIS เบิกเติม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422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state = ready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11880.0" y="475488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5074920"/>
            <a:ext cx="5029200" cy="685800"/>
          </a:xfrm>
          <a:prstGeom prst="roundRect">
            <a:avLst/>
          </a:prstGeom>
          <a:solidFill>
            <a:srgbClr val="6C3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เภสัช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148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โอนสต็อก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.0" y="5760720"/>
            <a:ext cx="0.0" cy="32004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6080760"/>
            <a:ext cx="5029200" cy="6858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Picking HISINT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61539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Prompt"/>
              </a:defRPr>
            </a:pPr>
            <a:r>
              <a:t>PHAR →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Stock Requisitions — กฎสำคัญ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ส่งอะไร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source_warehouse_code: PHAR (คลังหลัก)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dest_warehouse_code: UNIT (คลัง front)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dest_location_code / department_code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lines[] — product_code + qty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lot ไม่บังคับ — FEFO ตอน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6B"/>
                </a:solidFill>
                <a:latin typeface="Prompt"/>
              </a:defRPr>
            </a:pPr>
            <a:r>
              <a:t>ต่างจาก stock-issues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ไม่มี HN/VN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ไม่มี reason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Internal Transfer ไม่ใช่ Consumption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ทิศทาง PHAR → UNIT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Prompt"/>
              </a:defRPr>
            </a:pPr>
            <a:r>
              <a:t>Spec: VPK-HIS-SPEC-STK-002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Stock Requisitions — ตัวอย่าง Payload (ย่อ)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0"/>
          </a:xfrm>
          <a:prstGeom prst="round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>
                <a:solidFill>
                  <a:srgbClr val="333333"/>
                </a:solidFill>
                <a:latin typeface="Consolas"/>
              </a:defRPr>
            </a:pPr>
            <a:r>
              <a:t>POST /vpk/api/v1/his/stock-requisitions</a:t>
            </a:r>
            <a:br/>
            <a:br/>
            <a:r>
              <a:t>{</a:t>
            </a:r>
            <a:br/>
            <a:r>
              <a:t>  "external_id": "HIS-REQ-2026-08-26-OPD-1",</a:t>
            </a:r>
            <a:br/>
            <a:r>
              <a:t>  "source_system": "front_his",</a:t>
            </a:r>
            <a:br/>
            <a:r>
              <a:t>  "business_date": "2026-08-26",</a:t>
            </a:r>
            <a:br/>
            <a:r>
              <a:t>  "source_warehouse_code": "PHAR",</a:t>
            </a:r>
            <a:br/>
            <a:r>
              <a:t>  "dest_warehouse_code": "UNIT",</a:t>
            </a:r>
            <a:br/>
            <a:r>
              <a:t>  "department_code": "OPD",</a:t>
            </a:r>
            <a:br/>
            <a:r>
              <a:t>  "lines": [</a:t>
            </a:r>
            <a:br/>
            <a:r>
              <a:t>    {"product_code": "00001", "item_type": "drug", "qty": 100},</a:t>
            </a:r>
            <a:br/>
            <a:r>
              <a:t>    {"product_code": "00012", "item_type": "drug", "qty": 50,</a:t>
            </a:r>
            <a:br/>
            <a:r>
              <a:t>     "lot_name": "AMX-2508"}</a:t>
            </a:r>
            <a:br/>
            <a:r>
              <a:t>  ],</a:t>
            </a:r>
            <a:br/>
            <a:r>
              <a:t>  "control_totals": {"qty_total": 150}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Prompt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ompt"/>
              </a:defRPr>
            </a:pPr>
            <a:r>
              <a:t>ภาพรวมทั้งระบบ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Prompt"/>
              </a:defRPr>
            </a:pPr>
            <a:r>
              <a:t>Data Flow 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เส้นทางข้อมูลทั้ง 3 API ในมุมมองเดียว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560320" cy="91440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Prompt"/>
              </a:defRPr>
            </a:pPr>
            <a:r>
              <a:t>ระบบ HIS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1554480"/>
            <a:ext cx="365760" cy="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097280"/>
            <a:ext cx="2560320" cy="91440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POST /revenue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560320" cy="109728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3D5C"/>
                </a:solidFill>
                <a:latin typeface="Prompt"/>
              </a:defRPr>
            </a:pPr>
            <a:r>
              <a:t>รายได้</a:t>
            </a:r>
            <a:br/>
            <a:r>
              <a:t>Invoice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383280"/>
            <a:ext cx="0" cy="45720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1554480"/>
            <a:ext cx="3291840" cy="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097280"/>
            <a:ext cx="25603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POST /stock-issues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60320" cy="109728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3D5C"/>
                </a:solidFill>
                <a:latin typeface="Prompt"/>
              </a:defRPr>
            </a:pPr>
            <a:r>
              <a:t>ตัดจ่าย</a:t>
            </a:r>
            <a:br/>
            <a:r>
              <a:t>HISOUT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0" y="3383280"/>
            <a:ext cx="0" cy="45720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1554480"/>
            <a:ext cx="6217920" cy="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1097280"/>
            <a:ext cx="2560320" cy="9144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POST /stock-requisitions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86000"/>
            <a:ext cx="2560320" cy="1097280"/>
          </a:xfrm>
          <a:prstGeom prst="round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3D5C"/>
                </a:solidFill>
                <a:latin typeface="Prompt"/>
              </a:defRPr>
            </a:pPr>
            <a:r>
              <a:t>เบิกเติม</a:t>
            </a:r>
            <a:br/>
            <a:r>
              <a:t>HISINT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24160" y="3383280"/>
            <a:ext cx="0" cy="45720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91840" y="3840480"/>
            <a:ext cx="8412480" cy="82296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Prompt"/>
              </a:defRPr>
            </a:pPr>
            <a:r>
              <a:t>Staging Batch (Odoo) — Validate → Ready → Post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0" y="4663440"/>
            <a:ext cx="0" cy="457200"/>
          </a:xfrm>
          <a:prstGeom prst="line">
            <a:avLst/>
          </a:prstGeom>
          <a:ln w="31750">
            <a:solidFill>
              <a:srgbClr val="0B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5120640"/>
            <a:ext cx="3200400" cy="914400"/>
          </a:xfrm>
          <a:prstGeom prst="roundRect">
            <a:avLst/>
          </a:prstGeom>
          <a:solidFill>
            <a:srgbClr val="0E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บัญชีรายได้</a:t>
            </a:r>
            <a:br/>
            <a:r>
              <a:t>Invoice /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120640"/>
            <a:ext cx="320040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Consumption</a:t>
            </a:r>
            <a:br/>
            <a:r>
              <a:t>ลดสต็อก front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120640"/>
            <a:ext cx="3200400" cy="914400"/>
          </a:xfrm>
          <a:prstGeom prst="round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Internal Transfer</a:t>
            </a:r>
            <a:br/>
            <a:r>
              <a:t>PHAR →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เปรียบเทียบ API ทั้ง 3 เส้น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  <a:gridCol w="3200400"/>
              </a:tblGrid>
              <a:tr h="37359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ompt"/>
                        </a:defRPr>
                      </a:pP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ompt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ompt"/>
                        </a:defRPr>
                      </a:pPr>
                      <a:r>
                        <a:t>Stock Issues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Prompt"/>
                        </a:defRPr>
                      </a:pPr>
                      <a:r>
                        <a:t>Stock Requisitions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735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POST /revenue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POST /stock-issues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POST /stock-requisitions</a:t>
                      </a:r>
                    </a:p>
                  </a:txBody>
                  <a:tcPr/>
                </a:tc>
              </a:tr>
              <a:tr h="3735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วัตถุประสงค์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สรุปรายได้รายวัน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ตัดจ่ายให้คนไข้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เบิกเติมคลัง front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735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HN / 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ห้ามส่ง (ตัดทิ้ง)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จำเป็น (patient_use)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ไม่เกี่ยวข้อง</a:t>
                      </a:r>
                    </a:p>
                  </a:txBody>
                  <a:tcPr/>
                </a:tc>
              </a:tr>
              <a:tr h="3735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เมื่อ Post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Invoice + Payment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HISOUT → Consumption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HISINT Internal Transfer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735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ทิศทางสต็อก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UNIT →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PHAR → UNIT</a:t>
                      </a:r>
                    </a:p>
                  </a:txBody>
                  <a:tcPr/>
                </a:tc>
              </a:tr>
              <a:tr h="37360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คิว ERP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HIS Revenue Queue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HIS ตัดจ่ายสินค้า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Prompt"/>
                        </a:defRPr>
                      </a:pPr>
                      <a:r>
                        <a:t>HIS เบิกเติมคลัง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Lookups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GET /lookups/entitlements — รหัสสิทธิการรักษา (revenue)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GET /lookups/payment-methods — วิธีรับชำระ (revenue)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GET /lookups/warehouses — รหัสคลัง Odoo (stock)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GET /lookups/products?codes=00001 — ตรวจ lot_required (stock)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GET /batches/{external_id}?source_system=... — ติดตามสถานะชุดข้อมูล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API Logs — ฝั่ง ERP (Settings → HIS Interface → API Logs)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HTTP Response &amp; ข้อผิดพลาดที่พบบ่อย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202 — รับชุดข้อมูลแล้ว (draft/ready/error) · อ่าน state และ errors[]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200 — คีย์ซ้ำของชุดที่ posted แล้ว (unchanged)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400 — JSON ผิด / ขาดฟิลด์ / validation fail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401 — API key ผิด · 503 — API ปิดหรือยังไม่ตั้งคีย์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Revenue: sales/payments ไม่ balance · entitlement ไม่รู้จัก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Stock: Unknown product · ขาด HN/VN · ขาด Lot · Unknown warehouse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Requisition: source=dest · ไม่มี lines · Unknown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3D5C"/>
                </a:solidFill>
                <a:latin typeface="Prompt"/>
              </a:defRPr>
            </a:pPr>
            <a:r>
              <a:t>Checklist สำหรับทีมพัฒนา 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ขอ URL + API Key จาก IT โรงพยาบาล (อย่า hard-code ใน source)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ใช้ external_id ไม่ซ้ำต่อ source_system + business_date/shift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Revenue: ส่ง control_totals ทุกครั้ง · ห้ามส่ง PII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Stock Issues: ส่ง HN+VN ทุกบรรทัดจ่ายคนไข้ · ตรวจ lot_required ก่อนส่ง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Requisition: แยก endpoint จากตัดจ่าย · ระบุ PHAR→UNIT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หลัง POST เก็บ response batch_id/state · poll GET /batches ถ้าต้องการ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Reversal: ใช้ external_id ใหม่ + original_external_id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Prompt"/>
              </a:defRPr>
            </a:pPr>
            <a:r>
              <a:t>□ อ่าน spec เต็ม: REV-001 · STK-001 · STK-002 · payload-examples.md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6B6B"/>
                </a:solidFill>
                <a:latin typeface="Prompt"/>
              </a:defRPr>
            </a:pPr>
            <a:r>
              <a:t>เอกสาร spec Word อยู่ใน odoo18-custom-addons/vpk_his_api/doc/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Prompt"/>
              </a:defRPr>
            </a:pPr>
            <a:r>
              <a:t>VPK HIS ↔ ERP Integration  ·  Odoo 18  ·  vpk_his_api  ·  สำหรับทีมพัฒนา HIS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Prompt"/>
              </a:defRPr>
            </a:pPr>
            <a:r>
              <a:t>โรงพยาบาลวชิระภูเก็ต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romp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D4E8"/>
                </a:solidFill>
                <a:latin typeface="Prompt"/>
              </a:defRPr>
            </a:pPr>
            <a:r>
              <a:t>Q &amp; A  ·  ติดต่อทีม ERP / IT โรงพยาบาลวชิระภูเก็ต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B0C8"/>
                </a:solidFill>
                <a:latin typeface="Prompt"/>
              </a:defRPr>
            </a:pPr>
            <a:r>
              <a:t>VPK-HIS-API-Presentation  ·  26 สิงหาคม 2569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