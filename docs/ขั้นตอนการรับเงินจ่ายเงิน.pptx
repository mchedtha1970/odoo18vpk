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ใช้เปิดการอธิบายทั้งเส้น ยังไม่ลงรายละเอียด แล้วค่อยเปิดทีละสไลด์ตามประเภทเงิน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สี่คอลัมน์นี้คือสารบัญ รับเงินกับมัดจำเป็นเงินเข้า สีเขียว เบิกและทำจ่ายเป็นเงินออก สีแดง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อย่าเล่าว่าเงินสดแล้วค่อยไปลูกหนี้ สองกล่องนี้เกิดพร้อมกันคนละเคส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แบบเขียนมือกับใบเสร็จต่อเนื่องให้ชี้ว่าเป็นทางเลือก แล้วย้ำว่างานเช้าคือนับเซฟโดยกรรมการ แล้วจึงฝากธนาคาร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ย้ำความต่างจากเงินสด เงินสดปิดด้วยการนำส่งและนับเซฟ โอนเช็คบัตรปิดด้วยสเตทเมนต์วันถัดไป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ใบเสร็จเขียวคือเครื่องหมายว่าเป็นมัดจำ การคืนเกิดที่แคชเชียร์หน้าบ้าน โดยหักลบค่ารักษา ไม่ใช่โอนคืนอย่างเดียว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ชี้สองเอกสาร: แบบฟอร์มค่าเดินทาง และบันทึกข้อความของแผนก จากนั้นอธิบายว่าบัญชีหักลบยอด ไม่ได้ลงจ่ายทั้งจำนวนที่เบิก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อย่าแต่งขั้นตอนให้เงินส่วนย่อย ไฟล์ไม่ได้ให้ลำดับ มีแค่สภาพว่าการเงินถือสดและไม่รู้แหล่งที่มา แต่บัญชีมีบันทึกจ่าย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ประโยคสำคัญ: ไปการเงินก่อนบัญชี เตรียมเช็คไม่ระบุวัน บันทึกเฉพาะเช็คที่ลงวันที่ และปัจจุบันไม่รู้จำนวนเช็คที่ค้าง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การเบิกจากหน่วยงานมี 4 ขั้น และปิดท้ายด้วยข้อเท็จจริงว่ากระทบยอดทำครั้งเดียวสิ้นเดือน ไม่ได้ทำรายครั้ง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D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2344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CFB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การเงิน  ·  โรงพยาบาลวชิระภูเก็ต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627632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ขั้นตอนการรับเงิน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และจ่ายเงิน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566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6D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แผนภาพสำหรับอธิบายผู้ปฏิบัติงาน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5E6D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จากไฟล์ รายละเอียดการรับเงินจ่ายเงินเพิ่มเติม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489204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27494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502920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รับเงิน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413248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DD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สด โอน เช็ค บัตร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01568" y="489204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27494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66160" y="502920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มัดจำ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5413248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DD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ใบเสร็จเขียว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36208" y="489204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27494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0" y="502920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เบิกสำรอง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5413248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DD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ทดรอง และจ่ายก่อน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70848" y="489204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27494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0" y="502920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ทำจ่าย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235440" y="5413248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DD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เช็คหรือโอน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23774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4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ภาพรวม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475488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D3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สี่เส้นงาน ที่การเงินต้องเล่าให้ตรงกัน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698480" y="2560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62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02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" y="1097280"/>
            <a:ext cx="2761488" cy="438912"/>
          </a:xfrm>
          <a:prstGeom prst="roundRect">
            <a:avLst>
              <a:gd name="adj" fmla="val 16667"/>
            </a:avLst>
          </a:prstGeom>
          <a:solidFill>
            <a:srgbClr val="1E6B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38912" y="1170432"/>
            <a:ext cx="2761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รับเงิน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8912" y="1664208"/>
            <a:ext cx="2761488" cy="877824"/>
          </a:xfrm>
          <a:prstGeom prst="roundRect">
            <a:avLst>
              <a:gd name="adj" fmla="val 8333"/>
            </a:avLst>
          </a:prstGeom>
          <a:solidFill>
            <a:srgbClr val="E7F3E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773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4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755648"/>
            <a:ext cx="22494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แยกค่ารักษา มัดจำ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คืนยืม หรือเงินอื่น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" y="2651760"/>
            <a:ext cx="2761488" cy="877824"/>
          </a:xfrm>
          <a:prstGeom prst="roundRect">
            <a:avLst>
              <a:gd name="adj" fmla="val 8333"/>
            </a:avLst>
          </a:prstGeom>
          <a:solidFill>
            <a:srgbClr val="E7F3E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761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4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743200"/>
            <a:ext cx="22494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เงินสดทันที หรือรอสลิป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โอน เช็ค บัตร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" y="3639312"/>
            <a:ext cx="2761488" cy="877824"/>
          </a:xfrm>
          <a:prstGeom prst="roundRect">
            <a:avLst>
              <a:gd name="adj" fmla="val 8333"/>
            </a:avLst>
          </a:prstGeom>
          <a:solidFill>
            <a:srgbClr val="E7F3E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749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4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730752"/>
            <a:ext cx="22494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ออกใบเสร็จ นำส่ง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แล้วส่งสรุปของวัน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" y="4626864"/>
            <a:ext cx="2761488" cy="877824"/>
          </a:xfrm>
          <a:prstGeom prst="roundRect">
            <a:avLst>
              <a:gd name="adj" fmla="val 8333"/>
            </a:avLst>
          </a:prstGeom>
          <a:solidFill>
            <a:srgbClr val="E7F3E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736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4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718304"/>
            <a:ext cx="22494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เช้าถัดไปนับเงินในเซฟ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แล้วฝากธนาคาร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64992" y="1097280"/>
            <a:ext cx="2761488" cy="438912"/>
          </a:xfrm>
          <a:prstGeom prst="roundRect">
            <a:avLst>
              <a:gd name="adj" fmla="val 16667"/>
            </a:avLst>
          </a:prstGeom>
          <a:solidFill>
            <a:srgbClr val="1E6B4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364992" y="1170432"/>
            <a:ext cx="2761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เงินมัดจำ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364992" y="1664208"/>
            <a:ext cx="2761488" cy="877824"/>
          </a:xfrm>
          <a:prstGeom prst="roundRect">
            <a:avLst>
              <a:gd name="adj" fmla="val 8333"/>
            </a:avLst>
          </a:prstGeom>
          <a:solidFill>
            <a:srgbClr val="E7F3E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74720" y="1773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4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749040" y="1755648"/>
            <a:ext cx="22494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มัดจำค่ารักษา หรือมัดจำตามสัญญา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64992" y="2651760"/>
            <a:ext cx="2761488" cy="877824"/>
          </a:xfrm>
          <a:prstGeom prst="roundRect">
            <a:avLst>
              <a:gd name="adj" fmla="val 8333"/>
            </a:avLst>
          </a:prstGeom>
          <a:solidFill>
            <a:srgbClr val="E7F3E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474720" y="2761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4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749040" y="2743200"/>
            <a:ext cx="22494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ออกใบเสร็จสีเขียว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364992" y="3639312"/>
            <a:ext cx="2761488" cy="877824"/>
          </a:xfrm>
          <a:prstGeom prst="roundRect">
            <a:avLst>
              <a:gd name="adj" fmla="val 8333"/>
            </a:avLst>
          </a:prstGeom>
          <a:solidFill>
            <a:srgbClr val="E7F3E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474720" y="3749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4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3749040" y="3730752"/>
            <a:ext cx="22494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ลงสมุดทะเบียนคุม และ GL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364992" y="4626864"/>
            <a:ext cx="2761488" cy="877824"/>
          </a:xfrm>
          <a:prstGeom prst="roundRect">
            <a:avLst>
              <a:gd name="adj" fmla="val 8333"/>
            </a:avLst>
          </a:prstGeom>
          <a:solidFill>
            <a:srgbClr val="E7F3E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474720" y="4736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4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3749040" y="4718304"/>
            <a:ext cx="22494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คืนที่แคชเชียร์ โดยหักค่ารักษา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91072" y="1097280"/>
            <a:ext cx="2761488" cy="438912"/>
          </a:xfrm>
          <a:prstGeom prst="roundRect">
            <a:avLst>
              <a:gd name="adj" fmla="val 16667"/>
            </a:avLst>
          </a:prstGeom>
          <a:solidFill>
            <a:srgbClr val="8C3D3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291072" y="1170432"/>
            <a:ext cx="2761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เบิกและสำรอง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91072" y="1664208"/>
            <a:ext cx="2761488" cy="877824"/>
          </a:xfrm>
          <a:prstGeom prst="roundRect">
            <a:avLst>
              <a:gd name="adj" fmla="val 8333"/>
            </a:avLst>
          </a:prstGeom>
          <a:solidFill>
            <a:srgbClr val="F8EBE8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00800" y="1773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3D32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675120" y="1755648"/>
            <a:ext cx="22494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การเงินตรวจเอกสาร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แล้วจึงขออนุมัติ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91072" y="2651760"/>
            <a:ext cx="2761488" cy="877824"/>
          </a:xfrm>
          <a:prstGeom prst="roundRect">
            <a:avLst>
              <a:gd name="adj" fmla="val 8333"/>
            </a:avLst>
          </a:prstGeom>
          <a:solidFill>
            <a:srgbClr val="F8EBE8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400800" y="2761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3D32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675120" y="2743200"/>
            <a:ext cx="22494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เงินที่เหลือส่งคืน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พร้อมออกใบเสร็จ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291072" y="3639312"/>
            <a:ext cx="2761488" cy="877824"/>
          </a:xfrm>
          <a:prstGeom prst="roundRect">
            <a:avLst>
              <a:gd name="adj" fmla="val 8333"/>
            </a:avLst>
          </a:prstGeom>
          <a:solidFill>
            <a:srgbClr val="F8EBE8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400800" y="3749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3D32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675120" y="3730752"/>
            <a:ext cx="22494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บัญชีหักยอดใช้จริง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ออกจากยอดที่เบิก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291072" y="4626864"/>
            <a:ext cx="2761488" cy="877824"/>
          </a:xfrm>
          <a:prstGeom prst="roundRect">
            <a:avLst>
              <a:gd name="adj" fmla="val 8333"/>
            </a:avLst>
          </a:prstGeom>
          <a:solidFill>
            <a:srgbClr val="F8EBE8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400800" y="4736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3D32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6675120" y="4718304"/>
            <a:ext cx="22494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อีกทางหนึ่ง จ่ายก่อน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แล้วค่อยส่งบิลมาเบิก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217152" y="1097280"/>
            <a:ext cx="2761488" cy="438912"/>
          </a:xfrm>
          <a:prstGeom prst="roundRect">
            <a:avLst>
              <a:gd name="adj" fmla="val 16667"/>
            </a:avLst>
          </a:prstGeom>
          <a:solidFill>
            <a:srgbClr val="8C3D32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217152" y="1170432"/>
            <a:ext cx="2761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ทำจ่าย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217152" y="1664208"/>
            <a:ext cx="2761488" cy="877824"/>
          </a:xfrm>
          <a:prstGeom prst="roundRect">
            <a:avLst>
              <a:gd name="adj" fmla="val 8333"/>
            </a:avLst>
          </a:prstGeom>
          <a:solidFill>
            <a:srgbClr val="F8EBE8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9326880" y="1773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3D32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9601200" y="1755648"/>
            <a:ext cx="22494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ใบเบิกเข้าการเงิน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ก่อนเข้าบัญชี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9217152" y="2651760"/>
            <a:ext cx="2761488" cy="877824"/>
          </a:xfrm>
          <a:prstGeom prst="roundRect">
            <a:avLst>
              <a:gd name="adj" fmla="val 8333"/>
            </a:avLst>
          </a:prstGeom>
          <a:solidFill>
            <a:srgbClr val="F8EBE8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9326880" y="2761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3D32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9601200" y="2743200"/>
            <a:ext cx="22494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ตรวจเอกสาร แล้วเตรียม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เช็คที่ยังไม่ลงวัน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9217152" y="3639312"/>
            <a:ext cx="2761488" cy="877824"/>
          </a:xfrm>
          <a:prstGeom prst="roundRect">
            <a:avLst>
              <a:gd name="adj" fmla="val 8333"/>
            </a:avLst>
          </a:prstGeom>
          <a:solidFill>
            <a:srgbClr val="F8EBE8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9326880" y="3749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3D32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9601200" y="3730752"/>
            <a:ext cx="22494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อนุมัติแล้วจ่าย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ด้วยเช็ค หรือโอน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9217152" y="4626864"/>
            <a:ext cx="2761488" cy="877824"/>
          </a:xfrm>
          <a:prstGeom prst="roundRect">
            <a:avLst>
              <a:gd name="adj" fmla="val 8333"/>
            </a:avLst>
          </a:prstGeom>
          <a:solidFill>
            <a:srgbClr val="F8EBE8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9326880" y="4736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3D32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9601200" y="4718304"/>
            <a:ext cx="22494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บัญชีบันทึกเมื่อ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เช็คลงวันที่แล้ว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438912" y="5833872"/>
            <a:ext cx="11311128" cy="768096"/>
          </a:xfrm>
          <a:prstGeom prst="roundRect">
            <a:avLst>
              <a:gd name="adj" fmla="val 9524"/>
            </a:avLst>
          </a:prstGeom>
          <a:solidFill>
            <a:srgbClr val="F3F6F4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621792" y="5925312"/>
            <a:ext cx="10945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สีเขียวคือเงินเข้า สีแดงคือเงินออก แต่ละช่องเป็นลำดับของเส้นนั้น รายละเอียดและจุดตัดสินใจอยู่ในสไลด์ถัดไป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23774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4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การรับเงิน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475488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D3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เงินที่เข้ามา แยกประเภทก่อนลงมือ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698480" y="2560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62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" y="1691640"/>
            <a:ext cx="2148840" cy="3200400"/>
          </a:xfrm>
          <a:prstGeom prst="roundRect">
            <a:avLst>
              <a:gd name="adj" fmla="val 4255"/>
            </a:avLst>
          </a:prstGeom>
          <a:solidFill>
            <a:srgbClr val="1C3D36"/>
          </a:solidFill>
          <a:ln/>
          <a:effectLst>
            <a:outerShdw sx="100000" sy="100000" kx="0" ky="0" algn="bl" rotWithShape="0" blurRad="127000" dist="38100" dir="5400000">
              <a:srgbClr val="1C3D36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21792" y="26060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CFB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จุดเริ่ม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9260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มีการรับเงิน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เข้าการเงิน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697480" y="1463040"/>
            <a:ext cx="292608" cy="164592"/>
          </a:xfrm>
          <a:prstGeom prst="rightArrow">
            <a:avLst/>
          </a:prstGeom>
          <a:solidFill>
            <a:srgbClr val="B7C6BF"/>
          </a:solidFill>
          <a:ln/>
        </p:spPr>
      </p:sp>
      <p:sp>
        <p:nvSpPr>
          <p:cNvPr id="9" name="Shape 7"/>
          <p:cNvSpPr/>
          <p:nvPr/>
        </p:nvSpPr>
        <p:spPr>
          <a:xfrm>
            <a:off x="3108960" y="1115568"/>
            <a:ext cx="2148840" cy="987552"/>
          </a:xfrm>
          <a:prstGeom prst="roundRect">
            <a:avLst>
              <a:gd name="adj" fmla="val 7407"/>
            </a:avLst>
          </a:prstGeom>
          <a:solidFill>
            <a:srgbClr val="E7F3E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36976" y="1408176"/>
            <a:ext cx="1892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B4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ค่ารักษาพยาบาล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40680" y="1115568"/>
            <a:ext cx="29718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77840" y="138988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เก็บเงินสด หรือโอน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577072" y="1115568"/>
            <a:ext cx="3154680" cy="987552"/>
          </a:xfrm>
          <a:prstGeom prst="roundRect">
            <a:avLst>
              <a:gd name="adj" fmla="val 7407"/>
            </a:avLst>
          </a:prstGeom>
          <a:solidFill>
            <a:srgbClr val="FBF4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723376" y="1371600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ลูกหนี้ตามสิทธิ เบิกได้ หรือประกันสังคม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697480" y="2606040"/>
            <a:ext cx="292608" cy="164592"/>
          </a:xfrm>
          <a:prstGeom prst="rightArrow">
            <a:avLst/>
          </a:prstGeom>
          <a:solidFill>
            <a:srgbClr val="B7C6BF"/>
          </a:solidFill>
          <a:ln/>
        </p:spPr>
      </p:sp>
      <p:sp>
        <p:nvSpPr>
          <p:cNvPr id="16" name="Shape 14"/>
          <p:cNvSpPr/>
          <p:nvPr/>
        </p:nvSpPr>
        <p:spPr>
          <a:xfrm>
            <a:off x="3108960" y="2258568"/>
            <a:ext cx="2148840" cy="987552"/>
          </a:xfrm>
          <a:prstGeom prst="roundRect">
            <a:avLst>
              <a:gd name="adj" fmla="val 7407"/>
            </a:avLst>
          </a:prstGeom>
          <a:solidFill>
            <a:srgbClr val="E7F3E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236976" y="2551176"/>
            <a:ext cx="1892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B4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ค่ามัดจำ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40680" y="2258568"/>
            <a:ext cx="29718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77840" y="253288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มัดจำค่ารักษา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577072" y="2258568"/>
            <a:ext cx="3154680" cy="987552"/>
          </a:xfrm>
          <a:prstGeom prst="roundRect">
            <a:avLst>
              <a:gd name="adj" fmla="val 7407"/>
            </a:avLst>
          </a:prstGeom>
          <a:solidFill>
            <a:srgbClr val="FBF4E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723376" y="2514600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มัดจำตามสัญญา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697480" y="3749040"/>
            <a:ext cx="292608" cy="164592"/>
          </a:xfrm>
          <a:prstGeom prst="rightArrow">
            <a:avLst/>
          </a:prstGeom>
          <a:solidFill>
            <a:srgbClr val="B7C6BF"/>
          </a:solidFill>
          <a:ln/>
        </p:spPr>
      </p:sp>
      <p:sp>
        <p:nvSpPr>
          <p:cNvPr id="23" name="Shape 21"/>
          <p:cNvSpPr/>
          <p:nvPr/>
        </p:nvSpPr>
        <p:spPr>
          <a:xfrm>
            <a:off x="3108960" y="3401568"/>
            <a:ext cx="2148840" cy="987552"/>
          </a:xfrm>
          <a:prstGeom prst="roundRect">
            <a:avLst>
              <a:gd name="adj" fmla="val 7407"/>
            </a:avLst>
          </a:prstGeom>
          <a:solidFill>
            <a:srgbClr val="E7F3E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236976" y="3694176"/>
            <a:ext cx="1892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B4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คืนเงินยืม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40680" y="3401568"/>
            <a:ext cx="29718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577840" y="367588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รับเงินยืมที่เหลือคืน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577072" y="3401568"/>
            <a:ext cx="3154680" cy="987552"/>
          </a:xfrm>
          <a:prstGeom prst="roundRect">
            <a:avLst>
              <a:gd name="adj" fmla="val 7407"/>
            </a:avLst>
          </a:prstGeom>
          <a:solidFill>
            <a:srgbClr val="FBF4E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723376" y="3657600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ไปต่อที่เส้นเบิกทดรอง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697480" y="4892040"/>
            <a:ext cx="292608" cy="164592"/>
          </a:xfrm>
          <a:prstGeom prst="rightArrow">
            <a:avLst/>
          </a:prstGeom>
          <a:solidFill>
            <a:srgbClr val="B7C6BF"/>
          </a:solidFill>
          <a:ln/>
        </p:spPr>
      </p:sp>
      <p:sp>
        <p:nvSpPr>
          <p:cNvPr id="30" name="Shape 28"/>
          <p:cNvSpPr/>
          <p:nvPr/>
        </p:nvSpPr>
        <p:spPr>
          <a:xfrm>
            <a:off x="3108960" y="4544568"/>
            <a:ext cx="2148840" cy="987552"/>
          </a:xfrm>
          <a:prstGeom prst="roundRect">
            <a:avLst>
              <a:gd name="adj" fmla="val 7407"/>
            </a:avLst>
          </a:prstGeom>
          <a:solidFill>
            <a:srgbClr val="E7F3E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236976" y="4837176"/>
            <a:ext cx="1892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B4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อื่นๆ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40680" y="4544568"/>
            <a:ext cx="629107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577840" y="4818888"/>
            <a:ext cx="6016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ตัวอย่างในเอกสารคือดอกเบี้ย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38912" y="5833872"/>
            <a:ext cx="11311128" cy="768096"/>
          </a:xfrm>
          <a:prstGeom prst="roundRect">
            <a:avLst>
              <a:gd name="adj" fmla="val 9524"/>
            </a:avLst>
          </a:prstGeom>
          <a:solidFill>
            <a:srgbClr val="F3F6F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21792" y="5925312"/>
            <a:ext cx="10945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กล่องทองคือทางเลือกของประเภทนั้น ไม่ใช่ขั้นถัดไป ค่ารักษาที่เก็บได้ทันทีไปเส้นเงินสดหรือโอน ส่วนที่เบิกได้หรือเป็นประกันสังคมให้ตั้งลูกหนี้ตามสิทธิ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23774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4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รับเงินสดแบบเดิม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475488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D3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จากรับเงิน จนถึงสรุปส่งเงินของวัน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698480" y="2560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62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" y="1170432"/>
            <a:ext cx="212140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  <a:effectLst>
            <a:outerShdw sx="100000" sy="100000" kx="0" ky="0" algn="bl" rotWithShape="0" blurRad="127000" dist="38100" dir="5400000">
              <a:srgbClr val="1C3D36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316736"/>
            <a:ext cx="310896" cy="310896"/>
          </a:xfrm>
          <a:prstGeom prst="ellipse">
            <a:avLst/>
          </a:prstGeom>
          <a:solidFill>
            <a:srgbClr val="1E6B4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135331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50976" y="1316736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D3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รับเงินสด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700784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รับจากผู้จ่ายที่จุดรับเงิน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78608" y="1874520"/>
            <a:ext cx="237744" cy="146304"/>
          </a:xfrm>
          <a:prstGeom prst="rightArrow">
            <a:avLst/>
          </a:prstGeom>
          <a:solidFill>
            <a:srgbClr val="B7C6BF"/>
          </a:solidFill>
          <a:ln/>
        </p:spPr>
      </p:sp>
      <p:sp>
        <p:nvSpPr>
          <p:cNvPr id="11" name="Shape 9"/>
          <p:cNvSpPr/>
          <p:nvPr/>
        </p:nvSpPr>
        <p:spPr>
          <a:xfrm>
            <a:off x="2761488" y="1170432"/>
            <a:ext cx="212140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  <a:effectLst>
            <a:outerShdw sx="100000" sy="100000" kx="0" ky="0" algn="bl" rotWithShape="0" blurRad="127000" dist="38100" dir="5400000">
              <a:srgbClr val="1C3D36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889504" y="1316736"/>
            <a:ext cx="310896" cy="310896"/>
          </a:xfrm>
          <a:prstGeom prst="ellipse">
            <a:avLst/>
          </a:prstGeom>
          <a:solidFill>
            <a:srgbClr val="1E6B4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889504" y="135331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273552" y="1316736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D3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ออกใบเสร็จ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907792" y="1700784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มีสองแบบ เขียนมือ หรือใบเสร็จต่อเนื่อง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01184" y="1874520"/>
            <a:ext cx="237744" cy="146304"/>
          </a:xfrm>
          <a:prstGeom prst="rightArrow">
            <a:avLst/>
          </a:prstGeom>
          <a:solidFill>
            <a:srgbClr val="B7C6BF"/>
          </a:solidFill>
          <a:ln/>
        </p:spPr>
      </p:sp>
      <p:sp>
        <p:nvSpPr>
          <p:cNvPr id="17" name="Shape 15"/>
          <p:cNvSpPr/>
          <p:nvPr/>
        </p:nvSpPr>
        <p:spPr>
          <a:xfrm>
            <a:off x="5084064" y="1170432"/>
            <a:ext cx="212140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  <a:effectLst>
            <a:outerShdw sx="100000" sy="100000" kx="0" ky="0" algn="bl" rotWithShape="0" blurRad="127000" dist="38100" dir="5400000">
              <a:srgbClr val="1C3D36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12080" y="1316736"/>
            <a:ext cx="310896" cy="310896"/>
          </a:xfrm>
          <a:prstGeom prst="ellipse">
            <a:avLst/>
          </a:prstGeom>
          <a:solidFill>
            <a:srgbClr val="1E6B4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212080" y="135331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596128" y="1316736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D3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นำส่งเงิน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230368" y="1700784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รวบรวมเงินของจุดรับ ส่งเข้าการเงิน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223760" y="1874520"/>
            <a:ext cx="237744" cy="146304"/>
          </a:xfrm>
          <a:prstGeom prst="rightArrow">
            <a:avLst/>
          </a:prstGeom>
          <a:solidFill>
            <a:srgbClr val="B7C6BF"/>
          </a:solidFill>
          <a:ln/>
        </p:spPr>
      </p:sp>
      <p:sp>
        <p:nvSpPr>
          <p:cNvPr id="23" name="Shape 21"/>
          <p:cNvSpPr/>
          <p:nvPr/>
        </p:nvSpPr>
        <p:spPr>
          <a:xfrm>
            <a:off x="7406640" y="1170432"/>
            <a:ext cx="212140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  <a:effectLst>
            <a:outerShdw sx="100000" sy="100000" kx="0" ky="0" algn="bl" rotWithShape="0" blurRad="127000" dist="38100" dir="5400000">
              <a:srgbClr val="1C3D36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534656" y="1316736"/>
            <a:ext cx="310896" cy="310896"/>
          </a:xfrm>
          <a:prstGeom prst="ellipse">
            <a:avLst/>
          </a:prstGeom>
          <a:solidFill>
            <a:srgbClr val="1E6B4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534656" y="135331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918704" y="1316736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D3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บันทึก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552944" y="1700784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ลงรายการรับตามใบเสร็จ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546336" y="1874520"/>
            <a:ext cx="237744" cy="146304"/>
          </a:xfrm>
          <a:prstGeom prst="rightArrow">
            <a:avLst/>
          </a:prstGeom>
          <a:solidFill>
            <a:srgbClr val="B7C6BF"/>
          </a:solidFill>
          <a:ln/>
        </p:spPr>
      </p:sp>
      <p:sp>
        <p:nvSpPr>
          <p:cNvPr id="29" name="Shape 27"/>
          <p:cNvSpPr/>
          <p:nvPr/>
        </p:nvSpPr>
        <p:spPr>
          <a:xfrm>
            <a:off x="9729216" y="1170432"/>
            <a:ext cx="212140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  <a:effectLst>
            <a:outerShdw sx="100000" sy="100000" kx="0" ky="0" algn="bl" rotWithShape="0" blurRad="127000" dist="38100" dir="5400000">
              <a:srgbClr val="1C3D36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857232" y="1316736"/>
            <a:ext cx="310896" cy="310896"/>
          </a:xfrm>
          <a:prstGeom prst="ellipse">
            <a:avLst/>
          </a:prstGeom>
          <a:solidFill>
            <a:srgbClr val="1E6B4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857232" y="135331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241280" y="1316736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D3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ส่งสรุปรายวัน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9875520" y="1700784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รายงานส่งเงิน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ของวันนั้น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38912" y="31272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3D3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ทุกเช้า ก่อนฝากธนาคาร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38912" y="3529584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  <a:effectLst>
            <a:outerShdw sx="100000" sy="100000" kx="0" ky="0" algn="bl" rotWithShape="0" blurRad="127000" dist="38100" dir="5400000">
              <a:srgbClr val="1C3D36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66928" y="3675888"/>
            <a:ext cx="310896" cy="310896"/>
          </a:xfrm>
          <a:prstGeom prst="ellipse">
            <a:avLst/>
          </a:prstGeom>
          <a:solidFill>
            <a:srgbClr val="8F6810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66928" y="371246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950976" y="367588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D3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กรรมการตรวจนับเงินในเซฟ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585216" y="4059936"/>
            <a:ext cx="4919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ทำทุกเช้า ไม่ใช่ตอนรับเงินแต่ละรายการ เป็นจุดตรวจว่าเงินที่อยู่ในการเงินตรงกับที่นำส่ง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779008" y="4389120"/>
            <a:ext cx="237744" cy="146304"/>
          </a:xfrm>
          <a:prstGeom prst="rightArrow">
            <a:avLst/>
          </a:prstGeom>
          <a:solidFill>
            <a:srgbClr val="B7C6BF"/>
          </a:solidFill>
          <a:ln/>
        </p:spPr>
      </p:sp>
      <p:sp>
        <p:nvSpPr>
          <p:cNvPr id="41" name="Shape 39"/>
          <p:cNvSpPr/>
          <p:nvPr/>
        </p:nvSpPr>
        <p:spPr>
          <a:xfrm>
            <a:off x="6126480" y="3529584"/>
            <a:ext cx="5623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  <a:effectLst>
            <a:outerShdw sx="100000" sy="100000" kx="0" ky="0" algn="bl" rotWithShape="0" blurRad="127000" dist="38100" dir="5400000">
              <a:srgbClr val="1C3D36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254496" y="3675888"/>
            <a:ext cx="310896" cy="310896"/>
          </a:xfrm>
          <a:prstGeom prst="ellipse">
            <a:avLst/>
          </a:prstGeom>
          <a:solidFill>
            <a:srgbClr val="1E6B45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254496" y="371246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7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6638544" y="3675888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D3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ฝากธนาคาร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6272784" y="4059936"/>
            <a:ext cx="5330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หลังกรรมการนับแล้ว นำเงินสดออกไปฝากธนาคาร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38912" y="5833872"/>
            <a:ext cx="11311128" cy="768096"/>
          </a:xfrm>
          <a:prstGeom prst="roundRect">
            <a:avLst>
              <a:gd name="adj" fmla="val 9524"/>
            </a:avLst>
          </a:prstGeom>
          <a:solidFill>
            <a:srgbClr val="F3F6F4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21792" y="5925312"/>
            <a:ext cx="10945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ใบเสร็จสองแบบเป็นทางเลือกตอนออกใบเสร็จ ไม่ได้ทำทั้งสองแบบในรายการเดียวกัน สรุปรายวันคือรายงานส่งเงินของวันนั้น ส่วนการนับเซฟเป็นงานเช้าของวันถัดไป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23774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4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รับโอน เช็ค และบัตรเครดิต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475488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D3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ยังไม่ปิดยอดในวันรับ ต้องรอสเตทเมนต์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698480" y="2560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62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05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" y="1325880"/>
            <a:ext cx="3520440" cy="3063240"/>
          </a:xfrm>
          <a:prstGeom prst="roundRect">
            <a:avLst>
              <a:gd name="adj" fmla="val 2985"/>
            </a:avLst>
          </a:prstGeom>
          <a:solidFill>
            <a:srgbClr val="E7F3EC"/>
          </a:solidFill>
          <a:ln/>
          <a:effectLst>
            <a:outerShdw sx="100000" sy="100000" kx="0" ky="0" algn="bl" rotWithShape="0" blurRad="127000" dist="38100" dir="5400000">
              <a:srgbClr val="1C3D36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94944" y="15544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6B4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331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3D3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รับชำระ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94944" y="29260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ผู้จ่ายโอนเงิน ส่งเช็ค หรือรูดบัตรเครดิต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005072" y="2697480"/>
            <a:ext cx="237744" cy="146304"/>
          </a:xfrm>
          <a:prstGeom prst="rightArrow">
            <a:avLst/>
          </a:prstGeom>
          <a:solidFill>
            <a:srgbClr val="B7C6BF"/>
          </a:solidFill>
          <a:ln/>
        </p:spPr>
      </p:sp>
      <p:sp>
        <p:nvSpPr>
          <p:cNvPr id="10" name="Shape 8"/>
          <p:cNvSpPr/>
          <p:nvPr/>
        </p:nvSpPr>
        <p:spPr>
          <a:xfrm>
            <a:off x="4279392" y="1325880"/>
            <a:ext cx="3520440" cy="3063240"/>
          </a:xfrm>
          <a:prstGeom prst="roundRect">
            <a:avLst>
              <a:gd name="adj" fmla="val 2985"/>
            </a:avLst>
          </a:prstGeom>
          <a:solidFill>
            <a:srgbClr val="E7F3EC"/>
          </a:solidFill>
          <a:ln/>
          <a:effectLst>
            <a:outerShdw sx="100000" sy="100000" kx="0" ky="0" algn="bl" rotWithShape="0" blurRad="127000" dist="38100" dir="5400000">
              <a:srgbClr val="1C3D36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35424" y="15544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6B4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4535424" y="2331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3D3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เก็บสลิป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535424" y="29260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สลิปคือหลักฐานของวันรับ ยังไม่ถือว่าตรวจยอดธนาคารแล้ว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845552" y="2697480"/>
            <a:ext cx="237744" cy="146304"/>
          </a:xfrm>
          <a:prstGeom prst="rightArrow">
            <a:avLst/>
          </a:prstGeom>
          <a:solidFill>
            <a:srgbClr val="B7C6BF"/>
          </a:solidFill>
          <a:ln/>
        </p:spPr>
      </p:sp>
      <p:sp>
        <p:nvSpPr>
          <p:cNvPr id="15" name="Shape 13"/>
          <p:cNvSpPr/>
          <p:nvPr/>
        </p:nvSpPr>
        <p:spPr>
          <a:xfrm>
            <a:off x="8119872" y="1325880"/>
            <a:ext cx="3520440" cy="3063240"/>
          </a:xfrm>
          <a:prstGeom prst="roundRect">
            <a:avLst>
              <a:gd name="adj" fmla="val 2985"/>
            </a:avLst>
          </a:prstGeom>
          <a:solidFill>
            <a:srgbClr val="FBF4E0"/>
          </a:solidFill>
          <a:ln/>
          <a:effectLst>
            <a:outerShdw sx="100000" sy="100000" kx="0" ky="0" algn="bl" rotWithShape="0" blurRad="127000" dist="38100" dir="5400000">
              <a:srgbClr val="1C3D36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375904" y="15544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F681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8375904" y="2331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3D3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วันถัดไป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375904" y="29260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เอาสลิปไปตรวจกับสเตทเมนต์ของธนาคาร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8912" y="5833872"/>
            <a:ext cx="11311128" cy="768096"/>
          </a:xfrm>
          <a:prstGeom prst="roundRect">
            <a:avLst>
              <a:gd name="adj" fmla="val 9524"/>
            </a:avLst>
          </a:prstGeom>
          <a:solidFill>
            <a:srgbClr val="F3F6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1792" y="5925312"/>
            <a:ext cx="10945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เส้นนี้ไม่มีขั้นตอนนับเงินในเซฟ เพราะเงินไม่ได้อยู่เป็นเงินสด จุดตรวจคือวันถัดไป สลิปต้องตรงกับสเตทเมนต์ จึงจะยืนยันว่ารับเงินเข้าจริง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23774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4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เงินมัดจำ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475488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D3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รับด้วยใบเสร็จเขียว และคืนโดยหักค่ารักษา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698480" y="2560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62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06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" y="1170432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  <a:effectLst>
            <a:outerShdw sx="100000" sy="100000" kx="0" ky="0" algn="bl" rotWithShape="0" blurRad="127000" dist="38100" dir="5400000">
              <a:srgbClr val="1C3D36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316736"/>
            <a:ext cx="310896" cy="310896"/>
          </a:xfrm>
          <a:prstGeom prst="ellipse">
            <a:avLst/>
          </a:prstGeom>
          <a:solidFill>
            <a:srgbClr val="1E6B4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135331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50976" y="131673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D3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รับเงินมัดจำ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700784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เป็นมัดจำค่ารักษา หรือมัดจำตามสัญญา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783080"/>
            <a:ext cx="237744" cy="146304"/>
          </a:xfrm>
          <a:prstGeom prst="rightArrow">
            <a:avLst/>
          </a:prstGeom>
          <a:solidFill>
            <a:srgbClr val="B7C6BF"/>
          </a:solidFill>
          <a:ln/>
        </p:spPr>
      </p:sp>
      <p:sp>
        <p:nvSpPr>
          <p:cNvPr id="11" name="Shape 9"/>
          <p:cNvSpPr/>
          <p:nvPr/>
        </p:nvSpPr>
        <p:spPr>
          <a:xfrm>
            <a:off x="3364992" y="1170432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  <a:effectLst>
            <a:outerShdw sx="100000" sy="100000" kx="0" ky="0" algn="bl" rotWithShape="0" blurRad="127000" dist="38100" dir="5400000">
              <a:srgbClr val="1C3D36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93008" y="1316736"/>
            <a:ext cx="310896" cy="310896"/>
          </a:xfrm>
          <a:prstGeom prst="ellipse">
            <a:avLst/>
          </a:prstGeom>
          <a:solidFill>
            <a:srgbClr val="1E6B4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93008" y="135331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877056" y="131673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D3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ออกใบเสร็จเขียว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511296" y="1700784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ใบเสร็จของมัดจำคนละแบบกับใบเสร็จค่ารักษาทั่วไป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783080"/>
            <a:ext cx="237744" cy="146304"/>
          </a:xfrm>
          <a:prstGeom prst="rightArrow">
            <a:avLst/>
          </a:prstGeom>
          <a:solidFill>
            <a:srgbClr val="B7C6BF"/>
          </a:solidFill>
          <a:ln/>
        </p:spPr>
      </p:sp>
      <p:sp>
        <p:nvSpPr>
          <p:cNvPr id="17" name="Shape 15"/>
          <p:cNvSpPr/>
          <p:nvPr/>
        </p:nvSpPr>
        <p:spPr>
          <a:xfrm>
            <a:off x="6291072" y="1170432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  <a:effectLst>
            <a:outerShdw sx="100000" sy="100000" kx="0" ky="0" algn="bl" rotWithShape="0" blurRad="127000" dist="38100" dir="5400000">
              <a:srgbClr val="1C3D36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19088" y="1316736"/>
            <a:ext cx="310896" cy="310896"/>
          </a:xfrm>
          <a:prstGeom prst="ellipse">
            <a:avLst/>
          </a:prstGeom>
          <a:solidFill>
            <a:srgbClr val="1E6B4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19088" y="135331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803136" y="131673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D3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สมุดทะเบียนคุม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37376" y="1700784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ลงสมุดเพื่อตามว่ามัดจำรายนี้ยังไม่คืน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52560" y="1783080"/>
            <a:ext cx="237744" cy="146304"/>
          </a:xfrm>
          <a:prstGeom prst="rightArrow">
            <a:avLst/>
          </a:prstGeom>
          <a:solidFill>
            <a:srgbClr val="B7C6BF"/>
          </a:solidFill>
          <a:ln/>
        </p:spPr>
      </p:sp>
      <p:sp>
        <p:nvSpPr>
          <p:cNvPr id="23" name="Shape 21"/>
          <p:cNvSpPr/>
          <p:nvPr/>
        </p:nvSpPr>
        <p:spPr>
          <a:xfrm>
            <a:off x="9217152" y="1170432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  <a:effectLst>
            <a:outerShdw sx="100000" sy="100000" kx="0" ky="0" algn="bl" rotWithShape="0" blurRad="127000" dist="38100" dir="5400000">
              <a:srgbClr val="1C3D36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345168" y="1316736"/>
            <a:ext cx="310896" cy="310896"/>
          </a:xfrm>
          <a:prstGeom prst="ellipse">
            <a:avLst/>
          </a:prstGeom>
          <a:solidFill>
            <a:srgbClr val="1E6B4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345168" y="135331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729216" y="131673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D3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ลง GL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363456" y="1700784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บันทึกบัญชีในบัญชีเงินมัดจำ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8912" y="2999232"/>
            <a:ext cx="11311128" cy="3401568"/>
          </a:xfrm>
          <a:prstGeom prst="roundRect">
            <a:avLst>
              <a:gd name="adj" fmla="val 2688"/>
            </a:avLst>
          </a:prstGeom>
          <a:solidFill>
            <a:srgbClr val="FBF4E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8368" y="32004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681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เมื่อต้องคืนมัดจำ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58368" y="3794760"/>
            <a:ext cx="347472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1248" y="4023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3D3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ทำที่หน้าบ้าน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41248" y="47548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การคืนไม่ได้เริ่มที่บัญชี เริ่มที่จุดแคชเชียร์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315968" y="3794760"/>
            <a:ext cx="347472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498848" y="4023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3D3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หักกับค่ารักษา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4498848" y="47548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แคชเชียร์นำมัดจำมาหักลบกับค่ารักษา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973568" y="3794760"/>
            <a:ext cx="347472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156448" y="4023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3D3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สมุดคุมต้องตามให้ครบ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8156448" y="47548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รายการที่คืนแล้วต้องไม่ค้างในทะเบียนคุม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23774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4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เบิกเงินทดรอง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475488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D3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เบิกก่อน ใช้จริง แล้วคืนส่วนที่เหลือ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698480" y="2560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62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07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" y="1115568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  <a:effectLst>
            <a:outerShdw sx="100000" sy="100000" kx="0" ky="0" algn="bl" rotWithShape="0" blurRad="127000" dist="38100" dir="5400000">
              <a:srgbClr val="1C3D36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261872"/>
            <a:ext cx="310896" cy="310896"/>
          </a:xfrm>
          <a:prstGeom prst="ellipse">
            <a:avLst/>
          </a:prstGeom>
          <a:solidFill>
            <a:srgbClr val="1E6B4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1298448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50976" y="126187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D3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ใบเบิก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645920"/>
            <a:ext cx="2450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เริ่มจากใบเบิก ไม่เริ่มจากบัญชี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828800"/>
            <a:ext cx="237744" cy="146304"/>
          </a:xfrm>
          <a:prstGeom prst="rightArrow">
            <a:avLst/>
          </a:prstGeom>
          <a:solidFill>
            <a:srgbClr val="B7C6BF"/>
          </a:solidFill>
          <a:ln/>
        </p:spPr>
      </p:sp>
      <p:sp>
        <p:nvSpPr>
          <p:cNvPr id="11" name="Shape 9"/>
          <p:cNvSpPr/>
          <p:nvPr/>
        </p:nvSpPr>
        <p:spPr>
          <a:xfrm>
            <a:off x="3364992" y="1115568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  <a:effectLst>
            <a:outerShdw sx="100000" sy="100000" kx="0" ky="0" algn="bl" rotWithShape="0" blurRad="127000" dist="38100" dir="5400000">
              <a:srgbClr val="1C3D36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93008" y="1261872"/>
            <a:ext cx="310896" cy="310896"/>
          </a:xfrm>
          <a:prstGeom prst="ellipse">
            <a:avLst/>
          </a:prstGeom>
          <a:solidFill>
            <a:srgbClr val="1E6B4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93008" y="1298448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877056" y="126187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D3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เอกสารค่าใช้จ่าย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511296" y="1645920"/>
            <a:ext cx="2450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ค่าเดินทางใช้แบบฟอร์ม งานแผนกใช้บันทึกข้อความ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828800"/>
            <a:ext cx="237744" cy="146304"/>
          </a:xfrm>
          <a:prstGeom prst="rightArrow">
            <a:avLst/>
          </a:prstGeom>
          <a:solidFill>
            <a:srgbClr val="B7C6BF"/>
          </a:solidFill>
          <a:ln/>
        </p:spPr>
      </p:sp>
      <p:sp>
        <p:nvSpPr>
          <p:cNvPr id="17" name="Shape 15"/>
          <p:cNvSpPr/>
          <p:nvPr/>
        </p:nvSpPr>
        <p:spPr>
          <a:xfrm>
            <a:off x="6291072" y="1115568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  <a:effectLst>
            <a:outerShdw sx="100000" sy="100000" kx="0" ky="0" algn="bl" rotWithShape="0" blurRad="127000" dist="38100" dir="5400000">
              <a:srgbClr val="1C3D36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19088" y="1261872"/>
            <a:ext cx="310896" cy="310896"/>
          </a:xfrm>
          <a:prstGeom prst="ellipse">
            <a:avLst/>
          </a:prstGeom>
          <a:solidFill>
            <a:srgbClr val="1E6B4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19088" y="1298448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803136" y="126187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D3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การเงินตรวจ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37376" y="1645920"/>
            <a:ext cx="2450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ตรวจว่าเอกสารครบและถูกต้อง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52560" y="1828800"/>
            <a:ext cx="237744" cy="146304"/>
          </a:xfrm>
          <a:prstGeom prst="rightArrow">
            <a:avLst/>
          </a:prstGeom>
          <a:solidFill>
            <a:srgbClr val="B7C6BF"/>
          </a:solidFill>
          <a:ln/>
        </p:spPr>
      </p:sp>
      <p:sp>
        <p:nvSpPr>
          <p:cNvPr id="23" name="Shape 21"/>
          <p:cNvSpPr/>
          <p:nvPr/>
        </p:nvSpPr>
        <p:spPr>
          <a:xfrm>
            <a:off x="9217152" y="1115568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  <a:effectLst>
            <a:outerShdw sx="100000" sy="100000" kx="0" ky="0" algn="bl" rotWithShape="0" blurRad="127000" dist="38100" dir="5400000">
              <a:srgbClr val="1C3D36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345168" y="1261872"/>
            <a:ext cx="310896" cy="310896"/>
          </a:xfrm>
          <a:prstGeom prst="ellipse">
            <a:avLst/>
          </a:prstGeom>
          <a:solidFill>
            <a:srgbClr val="1E6B4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345168" y="1298448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729216" y="126187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D3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เสนออนุมัติ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363456" y="1645920"/>
            <a:ext cx="2450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ผ่านการตรวจแล้วจึงส่งขออนุมัติ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8912" y="3154680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  <a:effectLst>
            <a:outerShdw sx="100000" sy="100000" kx="0" ky="0" algn="bl" rotWithShape="0" blurRad="127000" dist="38100" dir="5400000">
              <a:srgbClr val="1C3D36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66928" y="3300984"/>
            <a:ext cx="310896" cy="310896"/>
          </a:xfrm>
          <a:prstGeom prst="ellipse">
            <a:avLst/>
          </a:prstGeom>
          <a:solidFill>
            <a:srgbClr val="1E6B4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66928" y="3337560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50976" y="330098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D3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เงินเหลือคืน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85216" y="3685032"/>
            <a:ext cx="336499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ส่งรายละเอียดส่วนที่เหลือคืนการเงิน แล้วออกใบเสร็จ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114800" y="4160520"/>
            <a:ext cx="237744" cy="146304"/>
          </a:xfrm>
          <a:prstGeom prst="rightArrow">
            <a:avLst/>
          </a:prstGeom>
          <a:solidFill>
            <a:srgbClr val="B7C6BF"/>
          </a:solidFill>
          <a:ln/>
        </p:spPr>
      </p:sp>
      <p:sp>
        <p:nvSpPr>
          <p:cNvPr id="34" name="Shape 32"/>
          <p:cNvSpPr/>
          <p:nvPr/>
        </p:nvSpPr>
        <p:spPr>
          <a:xfrm>
            <a:off x="4325112" y="3154680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  <a:effectLst>
            <a:outerShdw sx="100000" sy="100000" kx="0" ky="0" algn="bl" rotWithShape="0" blurRad="127000" dist="38100" dir="5400000">
              <a:srgbClr val="1C3D36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453128" y="3300984"/>
            <a:ext cx="310896" cy="310896"/>
          </a:xfrm>
          <a:prstGeom prst="ellipse">
            <a:avLst/>
          </a:prstGeom>
          <a:solidFill>
            <a:srgbClr val="1E6B45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453128" y="3337560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4837176" y="330098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D3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นำส่งการเงิน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4471416" y="3685032"/>
            <a:ext cx="336499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การเงินรับเงินคืนเข้า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001000" y="4160520"/>
            <a:ext cx="237744" cy="146304"/>
          </a:xfrm>
          <a:prstGeom prst="rightArrow">
            <a:avLst/>
          </a:prstGeom>
          <a:solidFill>
            <a:srgbClr val="B7C6BF"/>
          </a:solidFill>
          <a:ln/>
        </p:spPr>
      </p:sp>
      <p:sp>
        <p:nvSpPr>
          <p:cNvPr id="40" name="Shape 38"/>
          <p:cNvSpPr/>
          <p:nvPr/>
        </p:nvSpPr>
        <p:spPr>
          <a:xfrm>
            <a:off x="8211312" y="3154680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  <a:effectLst>
            <a:outerShdw sx="100000" sy="100000" kx="0" ky="0" algn="bl" rotWithShape="0" blurRad="127000" dist="38100" dir="5400000">
              <a:srgbClr val="1C3D36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339328" y="3300984"/>
            <a:ext cx="310896" cy="310896"/>
          </a:xfrm>
          <a:prstGeom prst="ellipse">
            <a:avLst/>
          </a:prstGeom>
          <a:solidFill>
            <a:srgbClr val="8F6810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339328" y="3337560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7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8723376" y="330098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D3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บัญชีหักลบ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8357616" y="3685032"/>
            <a:ext cx="336499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บันทึกรับโดยหักยอดที่ใช้จริงออกจากยอดที่เบิกไป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38912" y="5833872"/>
            <a:ext cx="11311128" cy="768096"/>
          </a:xfrm>
          <a:prstGeom prst="roundRect">
            <a:avLst>
              <a:gd name="adj" fmla="val 9524"/>
            </a:avLst>
          </a:prstGeom>
          <a:solidFill>
            <a:srgbClr val="F3F6F4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21792" y="5925312"/>
            <a:ext cx="10945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ค่าเดินทางกับงานของแผนกใช้คนละเอกสาร อย่าใช้บันทึกข้อความแทนแบบฟอร์มค่าเดินทาง บัญชีไม่ได้ลงยอดเบิกทั้งก้อนเป็นค่าใช้จ่าย แต่หักลบกับที่ใช้จริงและส่วนที่คืน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23774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4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เงินที่สำรองจ่าย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475488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D3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สองเรื่องที่อยู่นอกเส้นทดรองปกติ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698480" y="2560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62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08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" y="1115568"/>
            <a:ext cx="6903720" cy="4480560"/>
          </a:xfrm>
          <a:prstGeom prst="roundRect">
            <a:avLst>
              <a:gd name="adj" fmla="val 2041"/>
            </a:avLst>
          </a:prstGeom>
          <a:solidFill>
            <a:srgbClr val="F3F6F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C3D32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จ่ายก่อน แล้วเอาบิลมาเบิกทีหลัง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76656" y="1892808"/>
            <a:ext cx="329184" cy="329184"/>
          </a:xfrm>
          <a:prstGeom prst="ellipse">
            <a:avLst/>
          </a:prstGeom>
          <a:solidFill>
            <a:srgbClr val="8C3D3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76656" y="192938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52144" y="178308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3D3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หน่วยงานสำรองเงินตามจริง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52144" y="209397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แผนกจ่ายไปก่อนด้วยเงินของหน่วยงาน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76656" y="2788920"/>
            <a:ext cx="329184" cy="329184"/>
          </a:xfrm>
          <a:prstGeom prst="ellipse">
            <a:avLst/>
          </a:prstGeom>
          <a:solidFill>
            <a:srgbClr val="8C3D3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6656" y="282549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" y="267919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3D3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ส่งบันทึกข้อความพร้อมใบเสร็จ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" y="299008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ส่งทั้งเหตุผลและหลักฐานให้การเงิน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6656" y="3685032"/>
            <a:ext cx="329184" cy="329184"/>
          </a:xfrm>
          <a:prstGeom prst="ellipse">
            <a:avLst/>
          </a:prstGeom>
          <a:solidFill>
            <a:srgbClr val="8C3D3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76656" y="3721608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" y="357530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3D3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การเงินตรวจ แล้วส่งอนุมัติ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" y="388620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ยังไม่บันทึกจ่ายจนกว่าจะตรวจและอนุมัติ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6656" y="4581144"/>
            <a:ext cx="329184" cy="329184"/>
          </a:xfrm>
          <a:prstGeom prst="ellipse">
            <a:avLst/>
          </a:prstGeom>
          <a:solidFill>
            <a:srgbClr val="8C3D3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6656" y="461772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" y="447141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3D3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บันทึกการจ่าย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" y="478231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ผ่านอนุมัติแล้ว การเงินจึงบันทึกจ่าย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543800" y="1115568"/>
            <a:ext cx="4206240" cy="4480560"/>
          </a:xfrm>
          <a:prstGeom prst="roundRect">
            <a:avLst>
              <a:gd name="adj" fmla="val 2174"/>
            </a:avLst>
          </a:prstGeom>
          <a:solidFill>
            <a:srgbClr val="FBF4E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0" y="135331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681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เงินส่วนย่อย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0" y="196596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3D3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การเงินถือเงินก้อนนี้ไว้เป็นเงินสด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0" y="269748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เอกสารระบุว่ายังไม่รู้แหล่งที่มาของเงินก้อนนี้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0" y="356616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ฝั่งบัญชีมีบันทึกการจ่ายอยู่แล้ว จึงเป็นคนละภาพกับเงินสดในมือการเงิน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38912" y="5833872"/>
            <a:ext cx="11311128" cy="768096"/>
          </a:xfrm>
          <a:prstGeom prst="roundRect">
            <a:avLst>
              <a:gd name="adj" fmla="val 9524"/>
            </a:avLst>
          </a:prstGeom>
          <a:solidFill>
            <a:srgbClr val="F3F6F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1792" y="5925312"/>
            <a:ext cx="10945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ทางซ้ายมีลำดับชัด หน่วยงานจ่ายเองแล้วขอเบิกคืน ทางขวาเป็นข้อเท็จจริงที่ต้องบอกตรงๆ ว่าเงินสดส่วนย่อยยังระบุแหล่งที่มาไม่ได้ ทั้งที่บัญชีบันทึกจ่ายแล้ว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23774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4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การทำจ่าย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475488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D3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เข้าการเงินก่อน บันทึกเมื่อเช็คลงวันแล้ว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698480" y="2560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62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09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" y="1078992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  <a:effectLst>
            <a:outerShdw sx="100000" sy="100000" kx="0" ky="0" algn="bl" rotWithShape="0" blurRad="127000" dist="38100" dir="5400000">
              <a:srgbClr val="1C3D36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225296"/>
            <a:ext cx="310896" cy="310896"/>
          </a:xfrm>
          <a:prstGeom prst="ellipse">
            <a:avLst/>
          </a:prstGeom>
          <a:solidFill>
            <a:srgbClr val="1E6B4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126187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50976" y="122529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D3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ใบเบิก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609344"/>
            <a:ext cx="3364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ส่งเข้าการเงินก่อน ยังไม่ส่งบัญชี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0" y="1645920"/>
            <a:ext cx="237744" cy="146304"/>
          </a:xfrm>
          <a:prstGeom prst="rightArrow">
            <a:avLst/>
          </a:prstGeom>
          <a:solidFill>
            <a:srgbClr val="B7C6BF"/>
          </a:solidFill>
          <a:ln/>
        </p:spPr>
      </p:sp>
      <p:sp>
        <p:nvSpPr>
          <p:cNvPr id="11" name="Shape 9"/>
          <p:cNvSpPr/>
          <p:nvPr/>
        </p:nvSpPr>
        <p:spPr>
          <a:xfrm>
            <a:off x="4325112" y="1078992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  <a:effectLst>
            <a:outerShdw sx="100000" sy="100000" kx="0" ky="0" algn="bl" rotWithShape="0" blurRad="127000" dist="38100" dir="5400000">
              <a:srgbClr val="1C3D36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53128" y="1225296"/>
            <a:ext cx="310896" cy="310896"/>
          </a:xfrm>
          <a:prstGeom prst="ellipse">
            <a:avLst/>
          </a:prstGeom>
          <a:solidFill>
            <a:srgbClr val="1E6B4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53128" y="126187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37176" y="122529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D3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ตรวจเอกสาร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471416" y="1609344"/>
            <a:ext cx="3364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การเงินตรวจรายละเอียด แล้วเตรียมเช็คไว้โดยยังไม่ลงวันที่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01000" y="1645920"/>
            <a:ext cx="237744" cy="146304"/>
          </a:xfrm>
          <a:prstGeom prst="rightArrow">
            <a:avLst/>
          </a:prstGeom>
          <a:solidFill>
            <a:srgbClr val="B7C6BF"/>
          </a:solidFill>
          <a:ln/>
        </p:spPr>
      </p:sp>
      <p:sp>
        <p:nvSpPr>
          <p:cNvPr id="17" name="Shape 15"/>
          <p:cNvSpPr/>
          <p:nvPr/>
        </p:nvSpPr>
        <p:spPr>
          <a:xfrm>
            <a:off x="8211312" y="1078992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  <a:effectLst>
            <a:outerShdw sx="100000" sy="100000" kx="0" ky="0" algn="bl" rotWithShape="0" blurRad="127000" dist="38100" dir="5400000">
              <a:srgbClr val="1C3D36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39328" y="1225296"/>
            <a:ext cx="310896" cy="310896"/>
          </a:xfrm>
          <a:prstGeom prst="ellipse">
            <a:avLst/>
          </a:prstGeom>
          <a:solidFill>
            <a:srgbClr val="1E6B4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39328" y="126187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723376" y="122529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D3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ขออนุมัติ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357616" y="1609344"/>
            <a:ext cx="3364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ขออนุมัติเบิกหลังจากเอกสารพร้อม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" y="2788920"/>
            <a:ext cx="1554480" cy="2697480"/>
          </a:xfrm>
          <a:prstGeom prst="roundRect">
            <a:avLst>
              <a:gd name="adj" fmla="val 4706"/>
            </a:avLst>
          </a:prstGeom>
          <a:solidFill>
            <a:srgbClr val="1C3D3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66928" y="3749040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ตัดสินใจ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วิธีจ่าย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084832" y="4023360"/>
            <a:ext cx="237744" cy="146304"/>
          </a:xfrm>
          <a:prstGeom prst="rightArrow">
            <a:avLst/>
          </a:prstGeom>
          <a:solidFill>
            <a:srgbClr val="B7C6BF"/>
          </a:solidFill>
          <a:ln/>
        </p:spPr>
      </p:sp>
      <p:sp>
        <p:nvSpPr>
          <p:cNvPr id="25" name="Shape 23"/>
          <p:cNvSpPr/>
          <p:nvPr/>
        </p:nvSpPr>
        <p:spPr>
          <a:xfrm>
            <a:off x="2414016" y="2788920"/>
            <a:ext cx="416052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  <a:effectLst>
            <a:outerShdw sx="100000" sy="100000" kx="0" ky="0" algn="bl" rotWithShape="0" blurRad="127000" dist="38100" dir="5400000">
              <a:srgbClr val="1C3D36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42032" y="2935224"/>
            <a:ext cx="310896" cy="310896"/>
          </a:xfrm>
          <a:prstGeom prst="ellipse">
            <a:avLst/>
          </a:prstGeom>
          <a:solidFill>
            <a:srgbClr val="8F681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542032" y="2971800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2926080" y="2935224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D3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เช็ค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2560320" y="3319272"/>
            <a:ext cx="386791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ลงทะเบียนเช็ค แล้วส่งเอกสารให้บัญชี บัญชีบันทึกเมื่อเช็คใบนั้นลงวันที่แล้ว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656832" y="3931920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681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หรือ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315200" y="2788920"/>
            <a:ext cx="443484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  <a:effectLst>
            <a:outerShdw sx="100000" sy="100000" kx="0" ky="0" algn="bl" rotWithShape="0" blurRad="127000" dist="38100" dir="5400000">
              <a:srgbClr val="1C3D36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443216" y="2935224"/>
            <a:ext cx="310896" cy="310896"/>
          </a:xfrm>
          <a:prstGeom prst="ellipse">
            <a:avLst/>
          </a:prstGeom>
          <a:solidFill>
            <a:srgbClr val="1E6B45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443216" y="2971800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827264" y="2935224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D3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โอน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461504" y="3319272"/>
            <a:ext cx="414223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โอนเงิน แล้วส่งเอกสารให้บัญชีบันทึกได้เลย เพราะไม่ต้องรอวันที่บนเช็ค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38912" y="5833872"/>
            <a:ext cx="11311128" cy="768096"/>
          </a:xfrm>
          <a:prstGeom prst="roundRect">
            <a:avLst>
              <a:gd name="adj" fmla="val 9524"/>
            </a:avLst>
          </a:prstGeom>
          <a:solidFill>
            <a:srgbClr val="F8EBE8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21792" y="5925312"/>
            <a:ext cx="10945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3D32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หลังจ่าย ส่งเอกสารให้บัญชีบันทึก บัญชีลงเฉพาะเช็คที่ลงวันที่แล้ว เช็คที่ยังไม่ลงวันค้างไว้โดยไม่มีการบันทึก ตอนนี้จึงยังไม่มียอดที่บอกได้ว่าค้างอยู่เท่าไร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23774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4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การเบิกจากหน่วยงาน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475488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D3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หน่วยงานทำให้ครบก่อน แล้วการเงินจึงรับเรื่อง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698480" y="2560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62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" y="1115568"/>
            <a:ext cx="70408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  <a:effectLst>
            <a:outerShdw sx="100000" sy="100000" kx="0" ky="0" algn="bl" rotWithShape="0" blurRad="127000" dist="38100" dir="5400000">
              <a:srgbClr val="1C3D36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3504" y="1353312"/>
            <a:ext cx="365760" cy="365760"/>
          </a:xfrm>
          <a:prstGeom prst="ellipse">
            <a:avLst/>
          </a:prstGeom>
          <a:solidFill>
            <a:srgbClr val="8C3D3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03504" y="140817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33856" y="1225296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3D3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เขียนใบเบิก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33856" y="153619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หน่วยงานเป็นคนเริ่ม ไม่ใช่การเงินเขียนให้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" y="2231136"/>
            <a:ext cx="70408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  <a:effectLst>
            <a:outerShdw sx="100000" sy="100000" kx="0" ky="0" algn="bl" rotWithShape="0" blurRad="127000" dist="38100" dir="5400000">
              <a:srgbClr val="1C3D36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3504" y="2468880"/>
            <a:ext cx="365760" cy="365760"/>
          </a:xfrm>
          <a:prstGeom prst="ellipse">
            <a:avLst/>
          </a:prstGeom>
          <a:solidFill>
            <a:srgbClr val="8C3D3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03504" y="252374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33856" y="2340864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3D3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บันทึกข้อความ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33856" y="265176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บอกเหตุผล และแบบฟอร์มไม่เหมือนกันในแต่ละหน่วยงาน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8912" y="3346704"/>
            <a:ext cx="70408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  <a:effectLst>
            <a:outerShdw sx="100000" sy="100000" kx="0" ky="0" algn="bl" rotWithShape="0" blurRad="127000" dist="38100" dir="5400000">
              <a:srgbClr val="1C3D36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" y="3584448"/>
            <a:ext cx="365760" cy="365760"/>
          </a:xfrm>
          <a:prstGeom prst="ellipse">
            <a:avLst/>
          </a:prstGeom>
          <a:solidFill>
            <a:srgbClr val="8C3D3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03504" y="36393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33856" y="345643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3D3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อนุมัติในหน่วยงาน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" y="3767328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ขออนุมัติที่หน่วยงานก่อนส่งออก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8912" y="4462272"/>
            <a:ext cx="70408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  <a:effectLst>
            <a:outerShdw sx="100000" sy="100000" kx="0" ky="0" algn="bl" rotWithShape="0" blurRad="127000" dist="38100" dir="5400000">
              <a:srgbClr val="1C3D36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" y="4700016"/>
            <a:ext cx="365760" cy="365760"/>
          </a:xfrm>
          <a:prstGeom prst="ellipse">
            <a:avLst/>
          </a:prstGeom>
          <a:solidFill>
            <a:srgbClr val="8C3D3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03504" y="475488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33856" y="457200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3D3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ส่งการเงิน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133856" y="4882896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83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การเงินรับเรื่องหลังหน่วยงานอนุมัติแล้ว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680960" y="1115568"/>
            <a:ext cx="4069080" cy="4462272"/>
          </a:xfrm>
          <a:prstGeom prst="roundRect">
            <a:avLst>
              <a:gd name="adj" fmla="val 2247"/>
            </a:avLst>
          </a:prstGeom>
          <a:solidFill>
            <a:srgbClr val="1C3D3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90956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CFB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กระทบยอด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909560" y="18745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ไม่ได้ทำทีละรายการ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7909560" y="2834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BF4E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ทำครั้งเดียวตอนสิ้นเดือน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909560" y="37033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6D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ระหว่างเดือนจะยังไม่เห็นการกระทบยอดของแต่ละรายการรับหรือจ่าย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ompt" panose="020F0302020204030204"/>
        <a:ea typeface="Prompt"/>
        <a:cs typeface="Prompt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Prompt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ompt" panose="020F0502020204030204"/>
        <a:ea typeface="Prompt"/>
        <a:cs typeface="Prompt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Prompt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ขั้นตอนการรับเงินและจ่ายเงิน</dc:title>
  <dc:subject>จากรายละเอียดการรับเงินจ่ายเงินเพิ่มเติม</dc:subject>
  <dc:creator>โรงพยาบาลวชิระภูเก็ต</dc:creator>
  <cp:lastModifiedBy>โรงพยาบาลวชิระภูเก็ต</cp:lastModifiedBy>
  <cp:revision>1</cp:revision>
  <dcterms:created xsi:type="dcterms:W3CDTF">2026-10-07T21:53:48Z</dcterms:created>
  <dcterms:modified xsi:type="dcterms:W3CDTF">2026-10-07T21:53:48Z</dcterms:modified>
</cp:coreProperties>
</file>