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เปิดด้วยคำถามว่างานที่ถืออยู่ในมือเป็นรับของ โอนคลัง หรือเบิกใช้ แล้วเปิดแผ่นของงานนั้น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ให้ผู้ใช้ชี้ก่อนว่างานในมือเป็นสายไหน อย่าอธิบายทั้งสามสายพร้อมกัน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หลังอธิบายทาง QC ให้ชี้สามกล่องด้านล่าง: ล็อต, รับเต็มหรือบางส่วน, และต้นทุนที่บันทึกจากราคาใบสั่งซื้อ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สาย HIS เมื่อของถึงปลายทาง ให้ชี้ว่าต้องยืนยันรับบนแอปมือถือก่อน ระบบเชื่อมต่อจึงส่งข้อมูลเข้า HIS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ชี้สองทางให้ชัด ทางคลังเดินตามอนุมัติและจัดของ ทาง HIS คือตัดใช้ใน HIS แล้วข้อมูลเข้าเมนู HIS ตัดจ่ายสินค้า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ปิดท้ายด้วยการเปิดแดชบอร์ดหนึ่งใบงานจริง แล้วจับคู่กับกล่องในแผนภาพ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484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งานคลังสินค้า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8E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แผนภาพขั้นตอนสำหรับอธิบายผู้ใช้  ·  โรงพยาบาลวชิระภูเก็ต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0E5C5C"/>
          </a:solidFill>
          <a:ln w="15875">
            <a:solidFill>
              <a:srgbClr val="1A7A7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30358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E8C8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34564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รับสินค้า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931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E8E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ของจากผู้ขายเข้าคลัง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5E8E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ตรวจ QC แล้วจัดเก็บ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43400" y="288036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0E5C5C"/>
          </a:solidFill>
          <a:ln w="15875">
            <a:solidFill>
              <a:srgbClr val="1A7A7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44568" y="30358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E8C8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544568" y="34564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โอนสินค้า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544568" y="3931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E8E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ย้ายระหว่างคลัง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5E8E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หยิบ แพ็ค แล้วปลายทางรับ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38160" y="288036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0E5C5C"/>
          </a:solidFill>
          <a:ln w="15875">
            <a:solidFill>
              <a:srgbClr val="1A7A7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39328" y="30358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E8C8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339328" y="34564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เบิกใช้ภายใน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8339328" y="3931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E8E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หน่วยงานขอเบิก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5E8E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อนุมัติ จัดของ แล้วจ่าย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201168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43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เริ่มจากประเภทของงาน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585216"/>
            <a:ext cx="11338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ดูที่ใบงานหรือหน้าสถานะงานคลัง แล้วเดินตามสายที่ตรงกัน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675120" y="256032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สี่เหลี่ยม = ขั้นตอน      ข้าวหลามตัด = จุดตัดสินใจ      กล่องเขียว = จบงาน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3444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0B6E6E"/>
          </a:solidFill>
          <a:ln w="19050">
            <a:solidFill>
              <a:srgbClr val="0B6E6E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มีรายการงานคลัง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97480" y="1554480"/>
            <a:ext cx="256032" cy="146304"/>
          </a:xfrm>
          <a:prstGeom prst="rightArrow">
            <a:avLst/>
          </a:prstGeom>
          <a:solidFill>
            <a:srgbClr val="7E948E"/>
          </a:solidFill>
          <a:ln w="12700">
            <a:solidFill>
              <a:srgbClr val="7E948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63240" y="1051560"/>
            <a:ext cx="1554480" cy="1143000"/>
          </a:xfrm>
          <a:prstGeom prst="diamond">
            <a:avLst/>
          </a:prstGeom>
          <a:solidFill>
            <a:srgbClr val="F8E8C8"/>
          </a:solidFill>
          <a:ln w="19050">
            <a:solidFill>
              <a:srgbClr val="C47B2B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งานนี้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ประเภทใด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709160" y="96012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7B2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เลือกสาย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74920" y="114300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F7FBFA"/>
          </a:solidFill>
          <a:ln w="19050">
            <a:solidFill>
              <a:srgbClr val="0B6E6E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43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รับสินค้า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074920" y="2057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6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ของเข้าจากผู้ขาย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074920" y="23957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E6E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ไปแผ่นที่ 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360920" y="114300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F7FBFA"/>
          </a:solidFill>
          <a:ln w="19050">
            <a:solidFill>
              <a:srgbClr val="0B6E6E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43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โอนสินค้า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360920" y="2057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6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ย้ายจากคลังหนึ่งไปอีกคลัง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360920" y="23957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E6E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ไปแผ่นที่ 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114300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F7FBFA"/>
          </a:solidFill>
          <a:ln w="19050">
            <a:solidFill>
              <a:srgbClr val="0B6E6E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43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เบิกใช้ภายใน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646920" y="2057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6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จ่ายให้หน่วยงาน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646920" y="23957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E6E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ไปแผ่นที่ 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4F7F6"/>
          </a:solidFill>
          <a:ln w="12700">
            <a:solidFill>
              <a:srgbClr val="C9D7D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" y="33649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6E6E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รับสินค้า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384048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43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นับของตามใบสั่งซื้อ ตรวจ QC ที่คลังกลาง แล้วจัดเก็บเข้าตำแหน่ง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206240" y="320040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4F7F6"/>
          </a:solidFill>
          <a:ln w="12700">
            <a:solidFill>
              <a:srgbClr val="C9D7D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407408" y="33649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6E6E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โอนสินค้า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4407408" y="384048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43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หยิบของให้ครบ แพ็ค แล้วคลังปลายทางกดรับ ของย้ายเมื่อยืนยันแต่ละขั้น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955280" y="320040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4F7F6"/>
          </a:solidFill>
          <a:ln w="12700">
            <a:solidFill>
              <a:srgbClr val="C9D7D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156448" y="33649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6E6E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เบิกใช้ภายใน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8156448" y="384048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43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เบิกในคลังต้องอนุมัติก่อนจ่าย หรือตัดใช้จาก HIS แล้วส่งเข้า HIS ตัดจ่ายสินค้า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201168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43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1. รับสินค้า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585216"/>
            <a:ext cx="11338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ของจากผู้ขายเข้าคลัง ตามใบสั่งซื้อ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675120" y="256032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สี่เหลี่ยม = ขั้นตอน      ข้าวหลามตัด = จุดตัดสินใจ      กล่องเขียว = จบงาน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417320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0B6E6E"/>
          </a:solidFill>
          <a:ln w="19050">
            <a:solidFill>
              <a:srgbClr val="0B6E6E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ผู้ขายส่งของ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ตามใบสั่งซื้อ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331720" y="1783080"/>
            <a:ext cx="256032" cy="146304"/>
          </a:xfrm>
          <a:prstGeom prst="rightArrow">
            <a:avLst/>
          </a:prstGeom>
          <a:solidFill>
            <a:srgbClr val="7E948E"/>
          </a:solidFill>
          <a:ln w="12700">
            <a:solidFill>
              <a:srgbClr val="7E948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70048" y="141732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7FBFA"/>
          </a:solidFill>
          <a:ln w="19050">
            <a:solidFill>
              <a:srgbClr val="0B6E6E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43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รอรถมา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15968" y="1783080"/>
            <a:ext cx="256032" cy="146304"/>
          </a:xfrm>
          <a:prstGeom prst="rightArrow">
            <a:avLst/>
          </a:prstGeom>
          <a:solidFill>
            <a:srgbClr val="7E948E"/>
          </a:solidFill>
          <a:ln w="12700">
            <a:solidFill>
              <a:srgbClr val="7E948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41732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F7FBFA"/>
          </a:solidFill>
          <a:ln w="19050">
            <a:solidFill>
              <a:srgbClr val="0B6E6E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43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ตรวจนับ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C243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และรับของ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92240" y="1783080"/>
            <a:ext cx="256032" cy="146304"/>
          </a:xfrm>
          <a:prstGeom prst="rightArrow">
            <a:avLst/>
          </a:prstGeom>
          <a:solidFill>
            <a:srgbClr val="7E948E"/>
          </a:solidFill>
          <a:ln w="12700">
            <a:solidFill>
              <a:srgbClr val="7E948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0" y="1280160"/>
            <a:ext cx="1417320" cy="1143000"/>
          </a:xfrm>
          <a:prstGeom prst="diamond">
            <a:avLst/>
          </a:prstGeom>
          <a:solidFill>
            <a:srgbClr val="F8E8C8"/>
          </a:solidFill>
          <a:ln w="19050">
            <a:solidFill>
              <a:srgbClr val="C47B2B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ผ่าน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QC?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366760" y="123444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7B2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ผ่าน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66760" y="1673352"/>
            <a:ext cx="256032" cy="146304"/>
          </a:xfrm>
          <a:prstGeom prst="rightArrow">
            <a:avLst/>
          </a:prstGeom>
          <a:solidFill>
            <a:srgbClr val="7E948E"/>
          </a:solidFill>
          <a:ln w="12700">
            <a:solidFill>
              <a:srgbClr val="7E948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705088" y="141732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7FBFA"/>
          </a:solidFill>
          <a:ln w="19050">
            <a:solidFill>
              <a:srgbClr val="0B6E6E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43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จัดเก็บ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C243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เข้าตำแหน่ง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351008" y="1783080"/>
            <a:ext cx="256032" cy="146304"/>
          </a:xfrm>
          <a:prstGeom prst="rightArrow">
            <a:avLst/>
          </a:prstGeom>
          <a:solidFill>
            <a:srgbClr val="7E948E"/>
          </a:solidFill>
          <a:ln w="12700">
            <a:solidFill>
              <a:srgbClr val="7E948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680192" y="1417320"/>
            <a:ext cx="1143000" cy="868680"/>
          </a:xfrm>
          <a:prstGeom prst="roundRect">
            <a:avLst>
              <a:gd name="adj" fmla="val 8421"/>
            </a:avLst>
          </a:prstGeom>
          <a:solidFill>
            <a:srgbClr val="E7F5EC"/>
          </a:solidFill>
          <a:ln w="19050">
            <a:solidFill>
              <a:srgbClr val="1F8A5B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C32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เสร็จ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479792" y="2514600"/>
            <a:ext cx="146304" cy="237744"/>
          </a:xfrm>
          <a:prstGeom prst="downArrow">
            <a:avLst/>
          </a:prstGeom>
          <a:solidFill>
            <a:srgbClr val="7E948E"/>
          </a:solidFill>
          <a:ln w="12700">
            <a:solidFill>
              <a:srgbClr val="7E948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680960" y="254203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7B2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ไม่ผ่าน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989320" y="2880360"/>
            <a:ext cx="2468880" cy="777240"/>
          </a:xfrm>
          <a:prstGeom prst="roundRect">
            <a:avLst>
              <a:gd name="adj" fmla="val 9412"/>
            </a:avLst>
          </a:prstGeom>
          <a:solidFill>
            <a:srgbClr val="F8E6E4"/>
          </a:solidFill>
          <a:ln w="19050">
            <a:solidFill>
              <a:srgbClr val="C0392B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C2F2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ไม่จัดเก็บ แจ้งผู้ขาย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3840480"/>
            <a:ext cx="3749040" cy="2011680"/>
          </a:xfrm>
          <a:prstGeom prst="roundRect">
            <a:avLst>
              <a:gd name="adj" fmla="val 3636"/>
            </a:avLst>
          </a:prstGeom>
          <a:solidFill>
            <a:srgbClr val="F4F7F6"/>
          </a:solidFill>
          <a:ln w="12700">
            <a:solidFill>
              <a:srgbClr val="C9D7D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30352" y="3950208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6E6E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ถ้าสินค้ามีล็อต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30352" y="4315968"/>
            <a:ext cx="341985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43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ใส่ชื่อล็อตและวันหมดอายุในแท็บรายละเอียดการปฏิบัติการ จำนวนต้องเท่ากับปริมาณที่รับ ถ้าตั้งเกณฑ์อายุไว้ ต้องใส่วันหมดอายุก่อนกดตรวจสอบ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79392" y="3840480"/>
            <a:ext cx="3749040" cy="2011680"/>
          </a:xfrm>
          <a:prstGeom prst="roundRect">
            <a:avLst>
              <a:gd name="adj" fmla="val 3636"/>
            </a:avLst>
          </a:prstGeom>
          <a:solidFill>
            <a:srgbClr val="F4F7F6"/>
          </a:solidFill>
          <a:ln w="12700">
            <a:solidFill>
              <a:srgbClr val="C9D7D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43984" y="3950208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6E6E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รับเต็มจำนวน หรือบางส่วน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443984" y="4315968"/>
            <a:ext cx="341985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43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รับครบ: ปริมาณเท่ากับต้องการ ของเข้าทั้งจำนวน และไม่เปิดใบใหม่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43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รับไม่ครบ: แก้เฉพาะปริมาณให้เท่าของที่มา แล้วเลือกเปิดใบรับส่วนที่เหลือ หรือไม่เปิดใบค้างถ้าไม่รอรับอีก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193024" y="3840480"/>
            <a:ext cx="3749040" cy="2011680"/>
          </a:xfrm>
          <a:prstGeom prst="roundRect">
            <a:avLst>
              <a:gd name="adj" fmla="val 3636"/>
            </a:avLst>
          </a:prstGeom>
          <a:solidFill>
            <a:srgbClr val="F4F7F6"/>
          </a:solidFill>
          <a:ln w="12700">
            <a:solidFill>
              <a:srgbClr val="C9D7D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357616" y="3950208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6E6E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บันทึกต้นทุน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357616" y="4315968"/>
            <a:ext cx="341985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43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กดตรวจสอบแล้ว ระบบบันทึกต้นทุนต่อหน่วยจากราคาในใบสั่งซื้อ แบบค่าเฉลี่ย ยอดที่มีอยู่บนหน้าสินค้าขยับตามจำนวนที่รับจริง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11480" y="5989320"/>
            <a:ext cx="11365992" cy="658368"/>
          </a:xfrm>
          <a:prstGeom prst="roundRect">
            <a:avLst>
              <a:gd name="adj" fmla="val 11111"/>
            </a:avLst>
          </a:prstGeom>
          <a:solidFill>
            <a:srgbClr val="F4F7F6"/>
          </a:solidFill>
          <a:ln w="12700">
            <a:solidFill>
              <a:srgbClr val="C9D7D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66928" y="6071616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43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QC ใช้กับใบรับของคลังกลาง ผ่านแล้วจึงจัดเก็บ บนแอปมือถือ ผู้รับกรอกชื่อและลงลายเซ็นก่อนยืนยันรับสินค้า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201168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43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2. โอนสินค้า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585216"/>
            <a:ext cx="11338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ย้ายของจากคลังหนึ่งไปอีกคลัง รวมคำขอที่ HIS ส่งเข้ามา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675120" y="256032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สี่เหลี่ยม = ขั้นตอน      ข้าวหลามตัด = จุดตัดสินใจ      กล่องเขียว = จบงาน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325880"/>
            <a:ext cx="1691640" cy="822960"/>
          </a:xfrm>
          <a:prstGeom prst="roundRect">
            <a:avLst>
              <a:gd name="adj" fmla="val 8889"/>
            </a:avLst>
          </a:prstGeom>
          <a:solidFill>
            <a:srgbClr val="0B6E6E"/>
          </a:solidFill>
          <a:ln w="19050">
            <a:solidFill>
              <a:srgbClr val="0B6E6E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ต้องการ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ย้ายของ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148840" y="1664208"/>
            <a:ext cx="256032" cy="146304"/>
          </a:xfrm>
          <a:prstGeom prst="rightArrow">
            <a:avLst/>
          </a:prstGeom>
          <a:solidFill>
            <a:srgbClr val="7E948E"/>
          </a:solidFill>
          <a:ln w="12700">
            <a:solidFill>
              <a:srgbClr val="7E948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87168" y="1143000"/>
            <a:ext cx="1463040" cy="1188720"/>
          </a:xfrm>
          <a:prstGeom prst="diamond">
            <a:avLst/>
          </a:prstGeom>
          <a:solidFill>
            <a:srgbClr val="F8E8C8"/>
          </a:solidFill>
          <a:ln w="19050">
            <a:solidFill>
              <a:srgbClr val="C47B2B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คำขอ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มาจาก HIS?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069080" y="105156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7B2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ใช่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069080" y="1417320"/>
            <a:ext cx="256032" cy="146304"/>
          </a:xfrm>
          <a:prstGeom prst="rightArrow">
            <a:avLst/>
          </a:prstGeom>
          <a:solidFill>
            <a:srgbClr val="7E948E"/>
          </a:solidFill>
          <a:ln w="12700">
            <a:solidFill>
              <a:srgbClr val="7E94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07408" y="1115568"/>
            <a:ext cx="2148840" cy="713232"/>
          </a:xfrm>
          <a:prstGeom prst="roundRect">
            <a:avLst>
              <a:gd name="adj" fmla="val 10256"/>
            </a:avLst>
          </a:prstGeom>
          <a:solidFill>
            <a:srgbClr val="F7FBFA"/>
          </a:solidFill>
          <a:ln w="19050">
            <a:solidFill>
              <a:srgbClr val="0B6E6E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43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ชุด HIS พร้อมตรวจ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629400" y="1389888"/>
            <a:ext cx="256032" cy="146304"/>
          </a:xfrm>
          <a:prstGeom prst="rightArrow">
            <a:avLst/>
          </a:prstGeom>
          <a:solidFill>
            <a:srgbClr val="7E948E"/>
          </a:solidFill>
          <a:ln w="12700">
            <a:solidFill>
              <a:srgbClr val="7E948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49440" y="1115568"/>
            <a:ext cx="1965960" cy="713232"/>
          </a:xfrm>
          <a:prstGeom prst="roundRect">
            <a:avLst>
              <a:gd name="adj" fmla="val 10256"/>
            </a:avLst>
          </a:prstGeom>
          <a:solidFill>
            <a:srgbClr val="F7FBFA"/>
          </a:solidFill>
          <a:ln w="19050">
            <a:solidFill>
              <a:srgbClr val="0B6E6E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43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กด สร้างใบโอน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063240" y="235915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7B2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ไม่ใช่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063240" y="2331720"/>
            <a:ext cx="146304" cy="237744"/>
          </a:xfrm>
          <a:prstGeom prst="downArrow">
            <a:avLst/>
          </a:prstGeom>
          <a:solidFill>
            <a:srgbClr val="7E948E"/>
          </a:solidFill>
          <a:ln w="12700">
            <a:solidFill>
              <a:srgbClr val="7E94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331720" y="2651760"/>
            <a:ext cx="1965960" cy="658368"/>
          </a:xfrm>
          <a:prstGeom prst="roundRect">
            <a:avLst>
              <a:gd name="adj" fmla="val 11111"/>
            </a:avLst>
          </a:prstGeom>
          <a:solidFill>
            <a:srgbClr val="F7FBFA"/>
          </a:solidFill>
          <a:ln w="19050">
            <a:solidFill>
              <a:srgbClr val="0B6E6E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43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สร้างใบขอโอน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818120" y="1901952"/>
            <a:ext cx="146304" cy="237744"/>
          </a:xfrm>
          <a:prstGeom prst="downArrow">
            <a:avLst/>
          </a:prstGeom>
          <a:solidFill>
            <a:srgbClr val="7E948E"/>
          </a:solidFill>
          <a:ln w="12700">
            <a:solidFill>
              <a:srgbClr val="7E948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80560" y="33832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E6E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จากนั้นทำแถวเดียวกัน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" y="388620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F7FBFA"/>
          </a:solidFill>
          <a:ln w="19050">
            <a:solidFill>
              <a:srgbClr val="0B6E6E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43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จัดสินค้า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C243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สถานะ Ready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423160" y="4206240"/>
            <a:ext cx="256032" cy="146304"/>
          </a:xfrm>
          <a:prstGeom prst="rightArrow">
            <a:avLst/>
          </a:prstGeom>
          <a:solidFill>
            <a:srgbClr val="7E948E"/>
          </a:solidFill>
          <a:ln w="12700">
            <a:solidFill>
              <a:srgbClr val="7E94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761488" y="388620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F7FBFA"/>
          </a:solidFill>
          <a:ln w="19050">
            <a:solidFill>
              <a:srgbClr val="0B6E6E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43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แพ็คลงกล่อง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407408" y="4206240"/>
            <a:ext cx="256032" cy="146304"/>
          </a:xfrm>
          <a:prstGeom prst="rightArrow">
            <a:avLst/>
          </a:prstGeom>
          <a:solidFill>
            <a:srgbClr val="7E948E"/>
          </a:solidFill>
          <a:ln w="12700">
            <a:solidFill>
              <a:srgbClr val="7E948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54880" y="388620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F7FBFA"/>
          </a:solidFill>
          <a:ln w="19050">
            <a:solidFill>
              <a:srgbClr val="0B6E6E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43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ส่งถึงคลังปลายทาง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812280" y="4206240"/>
            <a:ext cx="256032" cy="146304"/>
          </a:xfrm>
          <a:prstGeom prst="rightArrow">
            <a:avLst/>
          </a:prstGeom>
          <a:solidFill>
            <a:srgbClr val="7E948E"/>
          </a:solidFill>
          <a:ln w="12700">
            <a:solidFill>
              <a:srgbClr val="7E948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50608" y="388620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F7FBFA"/>
          </a:solidFill>
          <a:ln w="19050">
            <a:solidFill>
              <a:srgbClr val="0B6E6E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43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ปลายทางตรวจรับ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208008" y="4206240"/>
            <a:ext cx="256032" cy="146304"/>
          </a:xfrm>
          <a:prstGeom prst="rightArrow">
            <a:avLst/>
          </a:prstGeom>
          <a:solidFill>
            <a:srgbClr val="7E948E"/>
          </a:solidFill>
          <a:ln w="12700">
            <a:solidFill>
              <a:srgbClr val="7E948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528048" y="388620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E7F5EC"/>
          </a:solidFill>
          <a:ln w="19050">
            <a:solidFill>
              <a:srgbClr val="1F8A5B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C32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รับครบ งานจบ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65760" y="4828032"/>
            <a:ext cx="11448288" cy="1024128"/>
          </a:xfrm>
          <a:prstGeom prst="roundRect">
            <a:avLst>
              <a:gd name="adj" fmla="val 7143"/>
            </a:avLst>
          </a:prstGeom>
          <a:solidFill>
            <a:srgbClr val="E7F3F3"/>
          </a:solidFill>
          <a:ln w="15875">
            <a:solidFill>
              <a:srgbClr val="0B6E6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30352" y="4919472"/>
            <a:ext cx="11109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6E6E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เมื่อ HIS รับสินค้า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30352" y="5230368"/>
            <a:ext cx="11109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43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คลังปลายทางเปิดแอปมือถือ แล้วกดยืนยันการรับ เมื่อยืนยันครบ ระบบเชื่อมต่อจะส่งข้อมูลการรับนี้เข้า HIS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11480" y="5989320"/>
            <a:ext cx="11365992" cy="658368"/>
          </a:xfrm>
          <a:prstGeom prst="roundRect">
            <a:avLst>
              <a:gd name="adj" fmla="val 11111"/>
            </a:avLst>
          </a:prstGeom>
          <a:solidFill>
            <a:srgbClr val="F4F7F6"/>
          </a:solidFill>
          <a:ln w="12700">
            <a:solidFill>
              <a:srgbClr val="C9D7D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66928" y="6071616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43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ทั้งสองทางมาบรรจบที่จัดสินค้า ของยังอยู่คลังต้นทางจนกว่าจะยืนยันหยิบ แพ็ค และรับที่ปลายทางทีละใบ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201168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43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3. เบิกใช้ภายใน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585216"/>
            <a:ext cx="11338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มีสองทาง เบิกในระบบคลัง หรือตัดใช้จาก HIS แล้วส่งเข้า HIS ตัดจ่ายสินค้า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675120" y="256032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สี่เหลี่ยม = ขั้นตอน      ข้าวหลามตัด = จุดตัดสินใจ      กล่องเขียว = จบงาน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2070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E6E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ทางที่ 1  เบิกในระบบคลัง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554480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0B6E6E"/>
          </a:solidFill>
          <a:ln w="19050">
            <a:solidFill>
              <a:srgbClr val="0B6E6E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หน่วยงาน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ขอเบิก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331720" y="1920240"/>
            <a:ext cx="256032" cy="146304"/>
          </a:xfrm>
          <a:prstGeom prst="rightArrow">
            <a:avLst/>
          </a:prstGeom>
          <a:solidFill>
            <a:srgbClr val="7E948E"/>
          </a:solidFill>
          <a:ln w="12700">
            <a:solidFill>
              <a:srgbClr val="7E948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97480" y="1444752"/>
            <a:ext cx="1417320" cy="1097280"/>
          </a:xfrm>
          <a:prstGeom prst="diamond">
            <a:avLst/>
          </a:prstGeom>
          <a:solidFill>
            <a:srgbClr val="F8E8C8"/>
          </a:solidFill>
          <a:ln w="19050">
            <a:solidFill>
              <a:srgbClr val="C47B2B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อนุมัติ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หรือไม่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251960" y="135331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7B2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อนุมัติ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51960" y="1810512"/>
            <a:ext cx="256032" cy="146304"/>
          </a:xfrm>
          <a:prstGeom prst="rightArrow">
            <a:avLst/>
          </a:prstGeom>
          <a:solidFill>
            <a:srgbClr val="7E948E"/>
          </a:solidFill>
          <a:ln w="12700">
            <a:solidFill>
              <a:srgbClr val="7E948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17720" y="155448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F7FBFA"/>
          </a:solidFill>
          <a:ln w="19050">
            <a:solidFill>
              <a:srgbClr val="0B6E6E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43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รอจัดของ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1920240"/>
            <a:ext cx="256032" cy="146304"/>
          </a:xfrm>
          <a:prstGeom prst="rightArrow">
            <a:avLst/>
          </a:prstGeom>
          <a:solidFill>
            <a:srgbClr val="7E948E"/>
          </a:solidFill>
          <a:ln w="12700">
            <a:solidFill>
              <a:srgbClr val="7E948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73952" y="155448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7FBFA"/>
          </a:solidFill>
          <a:ln w="19050">
            <a:solidFill>
              <a:srgbClr val="0B6E6E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43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กำลังจัดของ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19872" y="1920240"/>
            <a:ext cx="256032" cy="146304"/>
          </a:xfrm>
          <a:prstGeom prst="rightArrow">
            <a:avLst/>
          </a:prstGeom>
          <a:solidFill>
            <a:srgbClr val="7E948E"/>
          </a:solidFill>
          <a:ln w="12700">
            <a:solidFill>
              <a:srgbClr val="7E94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58200" y="155448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7FBFA"/>
          </a:solidFill>
          <a:ln w="19050">
            <a:solidFill>
              <a:srgbClr val="0B6E6E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43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พร้อมให้รับ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104120" y="1920240"/>
            <a:ext cx="256032" cy="146304"/>
          </a:xfrm>
          <a:prstGeom prst="rightArrow">
            <a:avLst/>
          </a:prstGeom>
          <a:solidFill>
            <a:srgbClr val="7E948E"/>
          </a:solidFill>
          <a:ln w="12700">
            <a:solidFill>
              <a:srgbClr val="7E948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424160" y="155448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E7F5EC"/>
          </a:solidFill>
          <a:ln w="19050">
            <a:solidFill>
              <a:srgbClr val="1F8A5B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C32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จ่ายแล้ว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310128" y="2651760"/>
            <a:ext cx="146304" cy="237744"/>
          </a:xfrm>
          <a:prstGeom prst="downArrow">
            <a:avLst/>
          </a:prstGeom>
          <a:solidFill>
            <a:srgbClr val="7E948E"/>
          </a:solidFill>
          <a:ln w="12700">
            <a:solidFill>
              <a:srgbClr val="7E948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20440" y="269748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7B2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ไม่อนุมัติ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468880" y="301752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F8E6E4"/>
          </a:solidFill>
          <a:ln w="19050">
            <a:solidFill>
              <a:srgbClr val="C0392B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C2F2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ยกเลิกใบเบิก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65760" y="39136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E6E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ทางที่ 2  เบิกจาก HIS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" y="4224528"/>
            <a:ext cx="2240280" cy="713232"/>
          </a:xfrm>
          <a:prstGeom prst="roundRect">
            <a:avLst>
              <a:gd name="adj" fmla="val 10256"/>
            </a:avLst>
          </a:prstGeom>
          <a:solidFill>
            <a:srgbClr val="0B6E6E"/>
          </a:solidFill>
          <a:ln w="19050">
            <a:solidFill>
              <a:srgbClr val="0B6E6E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ตัดใช้ในระบบ HIS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697480" y="4507992"/>
            <a:ext cx="256032" cy="146304"/>
          </a:xfrm>
          <a:prstGeom prst="rightArrow">
            <a:avLst/>
          </a:prstGeom>
          <a:solidFill>
            <a:srgbClr val="7E948E"/>
          </a:solidFill>
          <a:ln w="12700">
            <a:solidFill>
              <a:srgbClr val="7E948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035808" y="4224528"/>
            <a:ext cx="2606040" cy="713232"/>
          </a:xfrm>
          <a:prstGeom prst="roundRect">
            <a:avLst>
              <a:gd name="adj" fmla="val 10256"/>
            </a:avLst>
          </a:prstGeom>
          <a:solidFill>
            <a:srgbClr val="F7FBFA"/>
          </a:solidFill>
          <a:ln w="19050">
            <a:solidFill>
              <a:srgbClr val="0B6E6E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43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ส่งข้อมูลเข้า interface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733288" y="4507992"/>
            <a:ext cx="256032" cy="146304"/>
          </a:xfrm>
          <a:prstGeom prst="rightArrow">
            <a:avLst/>
          </a:prstGeom>
          <a:solidFill>
            <a:srgbClr val="7E948E"/>
          </a:solidFill>
          <a:ln w="12700">
            <a:solidFill>
              <a:srgbClr val="7E948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071616" y="4224528"/>
            <a:ext cx="2606040" cy="713232"/>
          </a:xfrm>
          <a:prstGeom prst="roundRect">
            <a:avLst>
              <a:gd name="adj" fmla="val 10256"/>
            </a:avLst>
          </a:prstGeom>
          <a:solidFill>
            <a:srgbClr val="F7FBFA"/>
          </a:solidFill>
          <a:ln w="19050">
            <a:solidFill>
              <a:srgbClr val="0B6E6E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43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HIS ตัดจ่ายสินค้า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769096" y="4507992"/>
            <a:ext cx="256032" cy="146304"/>
          </a:xfrm>
          <a:prstGeom prst="rightArrow">
            <a:avLst/>
          </a:prstGeom>
          <a:solidFill>
            <a:srgbClr val="7E948E"/>
          </a:solidFill>
          <a:ln w="12700">
            <a:solidFill>
              <a:srgbClr val="7E948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107424" y="4224528"/>
            <a:ext cx="2606040" cy="713232"/>
          </a:xfrm>
          <a:prstGeom prst="roundRect">
            <a:avLst>
              <a:gd name="adj" fmla="val 10256"/>
            </a:avLst>
          </a:prstGeom>
          <a:solidFill>
            <a:srgbClr val="E7F5EC"/>
          </a:solidFill>
          <a:ln w="19050">
            <a:solidFill>
              <a:srgbClr val="1F8A5B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C32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ของถูกตัดออกจากคลัง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11480" y="5989320"/>
            <a:ext cx="11365992" cy="658368"/>
          </a:xfrm>
          <a:prstGeom prst="roundRect">
            <a:avLst>
              <a:gd name="adj" fmla="val 11111"/>
            </a:avLst>
          </a:prstGeom>
          <a:solidFill>
            <a:srgbClr val="F4F7F6"/>
          </a:solidFill>
          <a:ln w="12700">
            <a:solidFill>
              <a:srgbClr val="C9D7D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66928" y="6071616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43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ทางคลัง: ยังไม่อนุมัติจ่ายของไม่ได้ ของถูกตัดเมื่อจ่ายแล้ว ทาง HIS: ตัดใช้ใน HIS ก่อน แล้วส่งข้อมูลเข้า HIS ตัดจ่ายสินค้า ของออกเมื่อชุดนี้ผ่านแล้ว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201168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43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ใช้อธิบายผู้ใช้แบบนี้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585216"/>
            <a:ext cx="11338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เปิดแผนภาพคู่กับหน้าจอสถานะงานคลัง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5577840" cy="1920240"/>
          </a:xfrm>
          <a:prstGeom prst="roundRect">
            <a:avLst>
              <a:gd name="adj" fmla="val 3810"/>
            </a:avLst>
          </a:prstGeom>
          <a:solidFill>
            <a:srgbClr val="F4F7F6"/>
          </a:solidFill>
          <a:ln w="12700">
            <a:solidFill>
              <a:srgbClr val="C9D7D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3560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6E6E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4356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43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ดูเลขที่ใบงาน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65960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43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เลขที่บนแดชบอร์ดตรงกับกล่องในแผนภาพ เช่น รอรถมา กำลังตรวจ QC รอรับปลายทาง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63640" y="1234440"/>
            <a:ext cx="5577840" cy="1920240"/>
          </a:xfrm>
          <a:prstGeom prst="roundRect">
            <a:avLst>
              <a:gd name="adj" fmla="val 3810"/>
            </a:avLst>
          </a:prstGeom>
          <a:solidFill>
            <a:srgbClr val="F8F4EA"/>
          </a:solidFill>
          <a:ln w="12700">
            <a:solidFill>
              <a:srgbClr val="C9D7D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143560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6E6E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14356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43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เดินทีละจุดตัดสินใจ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1965960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43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ถามคำถามในข้าวหลามตัดเพียงข้อเดียว แล้วชี้ทางที่ตอบ อย่าข้ามไปปลายทาง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11480" y="3383280"/>
            <a:ext cx="5577840" cy="1920240"/>
          </a:xfrm>
          <a:prstGeom prst="roundRect">
            <a:avLst>
              <a:gd name="adj" fmla="val 3810"/>
            </a:avLst>
          </a:prstGeom>
          <a:solidFill>
            <a:srgbClr val="F4F7F6"/>
          </a:solidFill>
          <a:ln w="12700">
            <a:solidFill>
              <a:srgbClr val="C9D7D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58444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6E6E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5844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43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สีเขียวคือจบจริง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114800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43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เสร็จ รับครบ หรือจ่ายแล้ว หมายถึงทำรายการนั้นจบ ของอยู่ในคลังที่ถูกต้องแล้ว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63640" y="3383280"/>
            <a:ext cx="5577840" cy="1920240"/>
          </a:xfrm>
          <a:prstGeom prst="roundRect">
            <a:avLst>
              <a:gd name="adj" fmla="val 3810"/>
            </a:avLst>
          </a:prstGeom>
          <a:solidFill>
            <a:srgbClr val="F8F4EA"/>
          </a:solidFill>
          <a:ln w="12700">
            <a:solidFill>
              <a:srgbClr val="C9D7D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92240" y="358444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6E6E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35844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43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สีแดงคือหยุด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4114800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43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QC ไม่ผ่าน ไม่อนุมัติ หรือยกเลิก หมายถึงยังไม่รับเข้าและยังไม่จ่ายออก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ompt"/>
        <a:ea typeface="Prompt"/>
        <a:cs typeface="Prompt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Prompt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ompt"/>
        <a:ea typeface="Prompt"/>
        <a:cs typeface="Prompt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Prompt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ขั้นตอนงานคลังสินค้า</dc:title>
  <dc:subject>แผนภาพอธิบายงานรับสินค้า โอนสินค้า และเบิกใช้ภายใน</dc:subject>
  <dc:creator>โรงพยาบาลวชิระภูเก็ต</dc:creator>
  <cp:lastModifiedBy>โรงพยาบาลวชิระภูเก็ต</cp:lastModifiedBy>
  <cp:revision>1</cp:revision>
  <dcterms:created xsi:type="dcterms:W3CDTF">2026-10-07T02:26:50Z</dcterms:created>
  <dcterms:modified xsi:type="dcterms:W3CDTF">2026-10-07T02:26:50Z</dcterms:modified>
</cp:coreProperties>
</file>