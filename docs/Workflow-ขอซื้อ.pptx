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จัดซื้อ" id="{e3fc01ba-a085-f89c-acf8-2f5e5a4e570e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low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65760" y="146304"/>
            <a:ext cx="11457432" cy="43891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800" dirty="0">
                <a:solidFill>
                  <a:schemeClr val="tx1"/>
                </a:solidFill>
              </a:defRPr>
            </a:lvl1pPr>
          </a:lstStyle>
          <a:p>
            <a:pPr algn="ctr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65760" y="146304"/>
            <a:ext cx="11457432" cy="43891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เวิร์กโฟลว์ขอซื้อ</a:t>
            </a:r>
            <a:endParaRPr lang="en-US" sz="2800" dirty="0"/>
          </a:p>
        </p:txBody>
      </p:sp>
      <p:sp>
        <p:nvSpPr>
          <p:cNvPr id="3" name="subtitle"/>
          <p:cNvSpPr txBox="1"/>
          <p:nvPr/>
        </p:nvSpPr>
        <p:spPr>
          <a:xfrm>
            <a:off x="365760" y="603504"/>
            <a:ext cx="11457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หน่วยงานขอซื้อครั้งเดียว แล้วจัดซื้อรับช่วงเดินจนปิดงาน</a:t>
            </a:r>
            <a:endParaRPr lang="en-US" sz="1500" dirty="0"/>
          </a:p>
        </p:txBody>
      </p:sp>
      <p:sp>
        <p:nvSpPr>
          <p:cNvPr id="4" name="lane-dept"/>
          <p:cNvSpPr txBox="1"/>
          <p:nvPr/>
        </p:nvSpPr>
        <p:spPr>
          <a:xfrm>
            <a:off x="502920" y="9875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หน่วยงาน</a:t>
            </a:r>
            <a:endParaRPr lang="en-US" sz="1400" dirty="0"/>
          </a:p>
        </p:txBody>
      </p:sp>
      <p:sp>
        <p:nvSpPr>
          <p:cNvPr id="5" name="step-1"/>
          <p:cNvSpPr/>
          <p:nvPr/>
        </p:nvSpPr>
        <p:spPr>
          <a:xfrm>
            <a:off x="614020" y="1298448"/>
            <a:ext cx="3520440" cy="1481328"/>
          </a:xfrm>
          <a:prstGeom prst="roundRect">
            <a:avLst>
              <a:gd name="adj" fmla="val 6173"/>
            </a:avLst>
          </a:prstGeom>
          <a:solidFill>
            <a:schemeClr val="accent1"/>
          </a:solidFill>
          <a:ln/>
        </p:spPr>
      </p:sp>
      <p:sp>
        <p:nvSpPr>
          <p:cNvPr id="6" name="num-1"/>
          <p:cNvSpPr/>
          <p:nvPr/>
        </p:nvSpPr>
        <p:spPr>
          <a:xfrm>
            <a:off x="760324" y="1463040"/>
            <a:ext cx="329184" cy="329184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7" name="num-label-1"/>
          <p:cNvSpPr txBox="1"/>
          <p:nvPr/>
        </p:nvSpPr>
        <p:spPr>
          <a:xfrm>
            <a:off x="760324" y="1463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itle-1"/>
          <p:cNvSpPr txBox="1"/>
          <p:nvPr/>
        </p:nvSpPr>
        <p:spPr>
          <a:xfrm>
            <a:off x="1162660" y="1426464"/>
            <a:ext cx="28254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ร่างใบขอซื้อ</a:t>
            </a:r>
            <a:endParaRPr lang="en-US" sz="1600" dirty="0"/>
          </a:p>
        </p:txBody>
      </p:sp>
      <p:sp>
        <p:nvSpPr>
          <p:cNvPr id="9" name="body-1"/>
          <p:cNvSpPr txBox="1"/>
          <p:nvPr/>
        </p:nvSpPr>
        <p:spPr>
          <a:xfrm>
            <a:off x="778612" y="1956816"/>
            <a:ext cx="31912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ระบุรายการ หน่วยงาน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และวิธีที่จะซื้อ</a:t>
            </a:r>
            <a:endParaRPr lang="en-US" sz="1300" dirty="0"/>
          </a:p>
        </p:txBody>
      </p:sp>
      <p:sp>
        <p:nvSpPr>
          <p:cNvPr id="10" name="step-2"/>
          <p:cNvSpPr/>
          <p:nvPr/>
        </p:nvSpPr>
        <p:spPr>
          <a:xfrm>
            <a:off x="4335628" y="1298448"/>
            <a:ext cx="3520440" cy="1481328"/>
          </a:xfrm>
          <a:prstGeom prst="roundRect">
            <a:avLst>
              <a:gd name="adj" fmla="val 6173"/>
            </a:avLst>
          </a:prstGeom>
          <a:solidFill>
            <a:schemeClr val="accent1"/>
          </a:solidFill>
          <a:ln/>
        </p:spPr>
      </p:sp>
      <p:sp>
        <p:nvSpPr>
          <p:cNvPr id="11" name="num-2"/>
          <p:cNvSpPr/>
          <p:nvPr/>
        </p:nvSpPr>
        <p:spPr>
          <a:xfrm>
            <a:off x="4481932" y="1463040"/>
            <a:ext cx="329184" cy="329184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2" name="num-label-2"/>
          <p:cNvSpPr txBox="1"/>
          <p:nvPr/>
        </p:nvSpPr>
        <p:spPr>
          <a:xfrm>
            <a:off x="4481932" y="1463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itle-2"/>
          <p:cNvSpPr txBox="1"/>
          <p:nvPr/>
        </p:nvSpPr>
        <p:spPr>
          <a:xfrm>
            <a:off x="4884268" y="1426464"/>
            <a:ext cx="28254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เช็คงบประมาณ</a:t>
            </a:r>
            <a:endParaRPr lang="en-US" sz="1600" dirty="0"/>
          </a:p>
        </p:txBody>
      </p:sp>
      <p:sp>
        <p:nvSpPr>
          <p:cNvPr id="14" name="body-2"/>
          <p:cNvSpPr txBox="1"/>
          <p:nvPr/>
        </p:nvSpPr>
        <p:spPr>
          <a:xfrm>
            <a:off x="4500220" y="1956816"/>
            <a:ext cx="31912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ต้องมียอดพอ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จึงส่งเรื่องได้</a:t>
            </a:r>
            <a:endParaRPr lang="en-US" sz="1300" dirty="0"/>
          </a:p>
        </p:txBody>
      </p:sp>
      <p:sp>
        <p:nvSpPr>
          <p:cNvPr id="15" name="step-3"/>
          <p:cNvSpPr/>
          <p:nvPr/>
        </p:nvSpPr>
        <p:spPr>
          <a:xfrm>
            <a:off x="8057236" y="1298448"/>
            <a:ext cx="3520440" cy="1481328"/>
          </a:xfrm>
          <a:prstGeom prst="roundRect">
            <a:avLst>
              <a:gd name="adj" fmla="val 6173"/>
            </a:avLst>
          </a:prstGeom>
          <a:solidFill>
            <a:schemeClr val="accent1"/>
          </a:solidFill>
          <a:ln/>
        </p:spPr>
      </p:sp>
      <p:sp>
        <p:nvSpPr>
          <p:cNvPr id="16" name="num-3"/>
          <p:cNvSpPr/>
          <p:nvPr/>
        </p:nvSpPr>
        <p:spPr>
          <a:xfrm>
            <a:off x="8203540" y="1463040"/>
            <a:ext cx="329184" cy="329184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7" name="num-label-3"/>
          <p:cNvSpPr txBox="1"/>
          <p:nvPr/>
        </p:nvSpPr>
        <p:spPr>
          <a:xfrm>
            <a:off x="8203540" y="1463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itle-3"/>
          <p:cNvSpPr txBox="1"/>
          <p:nvPr/>
        </p:nvSpPr>
        <p:spPr>
          <a:xfrm>
            <a:off x="8605876" y="1426464"/>
            <a:ext cx="28254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ส่งพัสดุ</a:t>
            </a:r>
            <a:endParaRPr lang="en-US" sz="1600" dirty="0"/>
          </a:p>
        </p:txBody>
      </p:sp>
      <p:sp>
        <p:nvSpPr>
          <p:cNvPr id="19" name="body-3"/>
          <p:cNvSpPr txBox="1"/>
          <p:nvPr/>
        </p:nvSpPr>
        <p:spPr>
          <a:xfrm>
            <a:off x="8221828" y="1956816"/>
            <a:ext cx="31912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ใบขอซื้อเข้าคิว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ของจัดซื้อ</a:t>
            </a:r>
            <a:endParaRPr lang="en-US" sz="1300" dirty="0"/>
          </a:p>
        </p:txBody>
      </p:sp>
      <p:sp>
        <p:nvSpPr>
          <p:cNvPr id="20" name="bridge"/>
          <p:cNvSpPr txBox="1"/>
          <p:nvPr/>
        </p:nvSpPr>
        <p:spPr>
          <a:xfrm>
            <a:off x="365760" y="2907792"/>
            <a:ext cx="11457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ขั้นที่ 3 ส่งเข้าคิวจัดซื้อ  แล้วเริ่มขั้นที่ 4</a:t>
            </a:r>
            <a:endParaRPr lang="en-US" sz="1400" dirty="0"/>
          </a:p>
        </p:txBody>
      </p:sp>
      <p:sp>
        <p:nvSpPr>
          <p:cNvPr id="21" name="lane-proc"/>
          <p:cNvSpPr txBox="1"/>
          <p:nvPr/>
        </p:nvSpPr>
        <p:spPr>
          <a:xfrm>
            <a:off x="502920" y="32552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จัดซื้อ</a:t>
            </a:r>
            <a:endParaRPr lang="en-US" sz="1400" dirty="0"/>
          </a:p>
        </p:txBody>
      </p:sp>
      <p:sp>
        <p:nvSpPr>
          <p:cNvPr id="22" name="step-4"/>
          <p:cNvSpPr/>
          <p:nvPr/>
        </p:nvSpPr>
        <p:spPr>
          <a:xfrm>
            <a:off x="454000" y="3584448"/>
            <a:ext cx="2697480" cy="1554480"/>
          </a:xfrm>
          <a:prstGeom prst="roundRect">
            <a:avLst>
              <a:gd name="adj" fmla="val 5882"/>
            </a:avLst>
          </a:prstGeom>
          <a:solidFill>
            <a:schemeClr val="accent2"/>
          </a:solidFill>
          <a:ln/>
        </p:spPr>
      </p:sp>
      <p:sp>
        <p:nvSpPr>
          <p:cNvPr id="23" name="num-4"/>
          <p:cNvSpPr/>
          <p:nvPr/>
        </p:nvSpPr>
        <p:spPr>
          <a:xfrm>
            <a:off x="600304" y="3749040"/>
            <a:ext cx="329184" cy="329184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24" name="num-label-4"/>
          <p:cNvSpPr txBox="1"/>
          <p:nvPr/>
        </p:nvSpPr>
        <p:spPr>
          <a:xfrm>
            <a:off x="600304" y="3749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4</a:t>
            </a:r>
            <a:endParaRPr lang="en-US" sz="1300" dirty="0"/>
          </a:p>
        </p:txBody>
      </p:sp>
      <p:sp>
        <p:nvSpPr>
          <p:cNvPr id="25" name="title-4"/>
          <p:cNvSpPr txBox="1"/>
          <p:nvPr/>
        </p:nvSpPr>
        <p:spPr>
          <a:xfrm>
            <a:off x="1002640" y="3712464"/>
            <a:ext cx="2002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รับงาน</a:t>
            </a:r>
            <a:endParaRPr lang="en-US" sz="1600" dirty="0"/>
          </a:p>
        </p:txBody>
      </p:sp>
      <p:sp>
        <p:nvSpPr>
          <p:cNvPr id="26" name="body-4"/>
          <p:cNvSpPr txBox="1"/>
          <p:nvPr/>
        </p:nvSpPr>
        <p:spPr>
          <a:xfrm>
            <a:off x="618592" y="4242816"/>
            <a:ext cx="23682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เจ้าหน้าที่พัสดุ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ดึงใบจากคิว</a:t>
            </a:r>
            <a:endParaRPr lang="en-US" sz="1300" dirty="0"/>
          </a:p>
        </p:txBody>
      </p:sp>
      <p:sp>
        <p:nvSpPr>
          <p:cNvPr id="27" name="step-5"/>
          <p:cNvSpPr/>
          <p:nvPr/>
        </p:nvSpPr>
        <p:spPr>
          <a:xfrm>
            <a:off x="3316072" y="3584448"/>
            <a:ext cx="2697480" cy="1554480"/>
          </a:xfrm>
          <a:prstGeom prst="roundRect">
            <a:avLst>
              <a:gd name="adj" fmla="val 5882"/>
            </a:avLst>
          </a:prstGeom>
          <a:solidFill>
            <a:schemeClr val="accent2"/>
          </a:solidFill>
          <a:ln/>
        </p:spPr>
      </p:sp>
      <p:sp>
        <p:nvSpPr>
          <p:cNvPr id="28" name="num-5"/>
          <p:cNvSpPr/>
          <p:nvPr/>
        </p:nvSpPr>
        <p:spPr>
          <a:xfrm>
            <a:off x="3462376" y="3749040"/>
            <a:ext cx="329184" cy="329184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29" name="num-label-5"/>
          <p:cNvSpPr txBox="1"/>
          <p:nvPr/>
        </p:nvSpPr>
        <p:spPr>
          <a:xfrm>
            <a:off x="3462376" y="3749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5</a:t>
            </a:r>
            <a:endParaRPr lang="en-US" sz="1300" dirty="0"/>
          </a:p>
        </p:txBody>
      </p:sp>
      <p:sp>
        <p:nvSpPr>
          <p:cNvPr id="30" name="title-5"/>
          <p:cNvSpPr txBox="1"/>
          <p:nvPr/>
        </p:nvSpPr>
        <p:spPr>
          <a:xfrm>
            <a:off x="3864712" y="3712464"/>
            <a:ext cx="2002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อนุมัติตามลำดับ</a:t>
            </a:r>
            <a:endParaRPr lang="en-US" sz="1600" dirty="0"/>
          </a:p>
        </p:txBody>
      </p:sp>
      <p:sp>
        <p:nvSpPr>
          <p:cNvPr id="31" name="body-5"/>
          <p:cNvSpPr txBox="1"/>
          <p:nvPr/>
        </p:nvSpPr>
        <p:spPr>
          <a:xfrm>
            <a:off x="3480664" y="4242816"/>
            <a:ext cx="23682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ครบทุกลำดับ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จึงเป็นอนุมัติ</a:t>
            </a:r>
            <a:endParaRPr lang="en-US" sz="1300" dirty="0"/>
          </a:p>
        </p:txBody>
      </p:sp>
      <p:sp>
        <p:nvSpPr>
          <p:cNvPr id="32" name="step-6"/>
          <p:cNvSpPr/>
          <p:nvPr/>
        </p:nvSpPr>
        <p:spPr>
          <a:xfrm>
            <a:off x="6178144" y="3584448"/>
            <a:ext cx="2697480" cy="1554480"/>
          </a:xfrm>
          <a:prstGeom prst="roundRect">
            <a:avLst>
              <a:gd name="adj" fmla="val 5882"/>
            </a:avLst>
          </a:prstGeom>
          <a:solidFill>
            <a:schemeClr val="accent2"/>
          </a:solidFill>
          <a:ln/>
        </p:spPr>
      </p:sp>
      <p:sp>
        <p:nvSpPr>
          <p:cNvPr id="33" name="num-6"/>
          <p:cNvSpPr/>
          <p:nvPr/>
        </p:nvSpPr>
        <p:spPr>
          <a:xfrm>
            <a:off x="6324448" y="3749040"/>
            <a:ext cx="329184" cy="329184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34" name="num-label-6"/>
          <p:cNvSpPr txBox="1"/>
          <p:nvPr/>
        </p:nvSpPr>
        <p:spPr>
          <a:xfrm>
            <a:off x="6324448" y="3749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6</a:t>
            </a:r>
            <a:endParaRPr lang="en-US" sz="1300" dirty="0"/>
          </a:p>
        </p:txBody>
      </p:sp>
      <p:sp>
        <p:nvSpPr>
          <p:cNvPr id="35" name="title-6"/>
          <p:cNvSpPr txBox="1"/>
          <p:nvPr/>
        </p:nvSpPr>
        <p:spPr>
          <a:xfrm>
            <a:off x="6726784" y="3712464"/>
            <a:ext cx="2002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ออกใบสั่งซื้อ</a:t>
            </a:r>
            <a:endParaRPr lang="en-US" sz="1600" dirty="0"/>
          </a:p>
        </p:txBody>
      </p:sp>
      <p:sp>
        <p:nvSpPr>
          <p:cNvPr id="36" name="body-6"/>
          <p:cNvSpPr txBox="1"/>
          <p:nvPr/>
        </p:nvSpPr>
        <p:spPr>
          <a:xfrm>
            <a:off x="6342736" y="4242816"/>
            <a:ext cx="23682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จัดซื้อจัดจ้าง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และสั่งซื้อ</a:t>
            </a:r>
            <a:endParaRPr lang="en-US" sz="1300" dirty="0"/>
          </a:p>
        </p:txBody>
      </p:sp>
      <p:sp>
        <p:nvSpPr>
          <p:cNvPr id="37" name="step-7"/>
          <p:cNvSpPr/>
          <p:nvPr/>
        </p:nvSpPr>
        <p:spPr>
          <a:xfrm>
            <a:off x="9040216" y="3584448"/>
            <a:ext cx="2697480" cy="1554480"/>
          </a:xfrm>
          <a:prstGeom prst="roundRect">
            <a:avLst>
              <a:gd name="adj" fmla="val 5882"/>
            </a:avLst>
          </a:prstGeom>
          <a:solidFill>
            <a:schemeClr val="accent3"/>
          </a:solidFill>
          <a:ln/>
        </p:spPr>
      </p:sp>
      <p:sp>
        <p:nvSpPr>
          <p:cNvPr id="38" name="num-7"/>
          <p:cNvSpPr/>
          <p:nvPr/>
        </p:nvSpPr>
        <p:spPr>
          <a:xfrm>
            <a:off x="9186520" y="3749040"/>
            <a:ext cx="329184" cy="329184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39" name="num-label-7"/>
          <p:cNvSpPr txBox="1"/>
          <p:nvPr/>
        </p:nvSpPr>
        <p:spPr>
          <a:xfrm>
            <a:off x="9186520" y="3749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7</a:t>
            </a:r>
            <a:endParaRPr lang="en-US" sz="1300" dirty="0"/>
          </a:p>
        </p:txBody>
      </p:sp>
      <p:sp>
        <p:nvSpPr>
          <p:cNvPr id="40" name="title-7"/>
          <p:cNvSpPr txBox="1"/>
          <p:nvPr/>
        </p:nvSpPr>
        <p:spPr>
          <a:xfrm>
            <a:off x="9588856" y="3712464"/>
            <a:ext cx="2002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ตรวจรับ ปิดงาน</a:t>
            </a:r>
            <a:endParaRPr lang="en-US" sz="1600" dirty="0"/>
          </a:p>
        </p:txBody>
      </p:sp>
      <p:sp>
        <p:nvSpPr>
          <p:cNvPr id="41" name="body-7"/>
          <p:cNvSpPr txBox="1"/>
          <p:nvPr/>
        </p:nvSpPr>
        <p:spPr>
          <a:xfrm>
            <a:off x="9204808" y="4242816"/>
            <a:ext cx="23682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รับของครบแล้ว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สถานะเสร็จสิ้น</a:t>
            </a:r>
            <a:endParaRPr lang="en-US" sz="1300" dirty="0"/>
          </a:p>
        </p:txBody>
      </p:sp>
      <p:sp>
        <p:nvSpPr>
          <p:cNvPr id="42" name="footer"/>
          <p:cNvSpPr txBox="1"/>
          <p:nvPr/>
        </p:nvSpPr>
        <p:spPr>
          <a:xfrm>
            <a:off x="365760" y="6263640"/>
            <a:ext cx="11457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บนใบขอซื้อจะเห็นสถานะเรียงกันว่า ร่าง  →  ส่งพัสดุแล้ว  →  อนุมัติ  →  เสร็จสิ้น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PK Procurement">
  <a:themeElements>
    <a:clrScheme name="VPK Procurement">
      <a:dk1>
        <a:srgbClr val="1B2A4A"/>
      </a:dk1>
      <a:lt1>
        <a:srgbClr val="FFFFFF"/>
      </a:lt1>
      <a:dk2>
        <a:srgbClr val="3E5166"/>
      </a:dk2>
      <a:lt2>
        <a:srgbClr val="E7F2F2"/>
      </a:lt2>
      <a:accent1>
        <a:srgbClr val="0B6E6E"/>
      </a:accent1>
      <a:accent2>
        <a:srgbClr val="1F4E79"/>
      </a:accent2>
      <a:accent3>
        <a:srgbClr val="1B7A4E"/>
      </a:accent3>
      <a:accent4>
        <a:srgbClr val="8A5A12"/>
      </a:accent4>
      <a:accent5>
        <a:srgbClr val="5C6B73"/>
      </a:accent5>
      <a:accent6>
        <a:srgbClr val="2E8A8A"/>
      </a:accent6>
      <a:hlink>
        <a:srgbClr val="0B6E6E"/>
      </a:hlink>
      <a:folHlink>
        <a:srgbClr val="1F4E79"/>
      </a:folHlink>
    </a:clrScheme>
    <a:fontScheme name="VPK Procuremen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เวิร์กโฟลว์ขอซื้อ</dc:title>
  <dc:subject>จากหน่วยงานขอซื้อจนจัดซื้อปิดงาน</dc:subject>
  <dc:creator>VPK</dc:creator>
  <cp:lastModifiedBy>VPK</cp:lastModifiedBy>
  <cp:revision>1</cp:revision>
  <dcterms:created xsi:type="dcterms:W3CDTF">2026-10-09T11:32:57Z</dcterms:created>
  <dcterms:modified xsi:type="dcterms:W3CDTF">2026-10-09T11:32:57Z</dcterms:modified>
</cp:coreProperties>
</file>