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เปิดด้วยประโยค: วันนี้ยังไม่ให้กดระบบทันที จะเล่าภาพรวมก่อน 15 นาที แล้วค่อยเดินทดสอบตามลำดับ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บอกผู้ฟังว่าไม่ต้องจำรายละเอียดหน้าจอทุกปุ่ม จำลำดับงานและความหมายของเงินให้ได้ก่อน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ย้ำว่าคนมักเข้าใจผิดว่าของบแล้วซื้อได้เลย จริงๆ ต้องรออนุมัติเข้าแผนก่อน แล้วค่อยเปิดใบขอซื้อ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ชี้ทีละกล่อง ช้าๆ เน้นข้อ 3-5 เพราะเป็นจุดที่ user จะได้กดเอง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ย้ำว่าเหลือ 4 ใบ ไม่มีใบต่ำกว่าแสน และครุภัณฑ์คอมใช้ใบครุภัณฑ์ เลือกผิดแบบฟอร์มจะกรอกคนละหน้า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ถ้าเป็นงบวัสดุ เน้นว่าต้องมีรายละเอียดสินค้าให้ครบ ประเภทวัสดุต้องตรงกับที่ตั้งไว้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จุดสำคัญ: อนุมัติได้เมื่อใส่ยอดจัดสรรครบ ยอดนี้คือเพดานใช้จ่ายทั้งปีของรายการนั้น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เปรียบเหมือนจองโต๊ะ: ส่ง PR = จองไว้, PO = นั่งแล้ว, ตั้งบิล = จ่ายแล้ว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เดินตัวเลขจากซ้ายไปขวา 1,000,000 ลบ 250+150+200 เหลือ 400,000 ถามผู้ฟังว่าซื้อของ 500,000 ได้ไหม คำตอบคือไม่ได้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ถ้า UAT ติดที่เช็คงบ ให้พาเปิดใบขอซื้อดู 4 ช่องนี้ทีละช่อง อย่าเพิ่งโทษว่าระบบบั๊ก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ให้คนในห้องชี้ว่าตัวเองอยู่กล่องไหน กันกดข้ามสิทธิ์ตอนทดสอบ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บอกว่าข้อ 4 ตั้งใจให้ไม่ผ่าน อย่าตกใจ ข้อ 6 ต้องทำครบถึงจะเห็นสูตรคงเหลือจริง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ทวน 3 ข้อ แล้วถามว่ามีคำถามไหม ถ้าไม่มี เปิดระบบข้อ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ปิดไฟล์นี้ แล้วสลับไปหน้าจอ Odoo ทันที อย่าเปิดเมนูซื้อของก่อนมีแผนที่อนุมัติ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ก่อนเริ่มทดสอบใช้งาน  ·  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ระบบงบประมาณทำงานอย่างไร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7E4EE"/>
                </a:solidFill>
                <a:latin typeface="Prompt"/>
                <a:ea typeface="Prompt"/>
                <a:cs typeface="Prompt"/>
              </a:rPr>
              <a:t>อธิบายภาพรวมให้ผู้ใช้เข้าใจก่อนลงมือกดในระบบ
ตั้งงบ  →  ใช้งบ  →  ดูคงเหลือ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โมดูลงบประมาณใน Odoo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70916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C4E6E"/>
          </a:solidFill>
          <a:ln>
            <a:solidFill>
              <a:srgbClr val="1C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ผู้ฟัง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หน่วยงาน  งานงบ  พัสดุ  การเงิน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70916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1C4E6E"/>
          </a:solidFill>
          <a:ln>
            <a:solidFill>
              <a:srgbClr val="1C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ใช้เวลาพูด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ประมาณ 15–20 นาที แล้วค่อยเปิดระบบ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ลำดับการอธิบาย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วันนี้จะเล่า 5 เรื่องนี้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658368" cy="475488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61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ภาพรวม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ระบบมี 2 ช่วง: ตั้งงบ แล้วค่อยใช้งบ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658368" cy="475488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5973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ตั้งงบประจำปี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หน่วยงานขอ งานงบพิจารณา แล้วเข้าแผน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658368" cy="475488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1985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ใช้งบ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4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ใบขอซื้อ → ใบสั่งซื้อ → ตั้งเจ้าหนี้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5196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658368" cy="475488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7997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ตัวเลขคงเหลือ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0916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ใช้ได้เท่าไร ดูจากสูตรเดียว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1208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394960"/>
            <a:ext cx="658368" cy="475488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40096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ลำดับทดสอบ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69280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6 ข้อ ที่ต้องทำตามลำดับ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จำประโยคนี้ไว้ก่อน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ยังซื้อของไม่ได้ จนกว่าจะมีงบที่อนุมัติ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ช่วงที่ 1</a:t>
            </a:r>
          </a:p>
          <a:p>
            <a:pPr algn="ctr">
              <a:spcAft>
                <a:spcPts val="300"/>
              </a:spcAft>
            </a:pPr>
            <a:r>
              <a:rPr sz="32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ตั้งงบ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หน่วยงานขอเงินประจำปี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งานงบจัดสรรแล้วอนุมัติ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ได้วงเงินในแผน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ช่วงที่ 2</a:t>
            </a:r>
          </a:p>
          <a:p>
            <a:pPr algn="ctr">
              <a:spcAft>
                <a:spcPts val="300"/>
              </a:spcAft>
            </a:pPr>
            <a:r>
              <a:rPr sz="32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ใช้งบ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จะซื้อของ ต้องมีใบขอซื้อ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ระบบกันเงินให้อัตโนมัติ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ใช้ได้ไม่เกินวงเงินที่จัดสรร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ภาพรวมวงจร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งานเดินจากซ้ายไปขวา อย่าข้ามขั้น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  ข้อมูลหลัก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แหล่งเงิน หน่วยงาน
แบบฟอร์ม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21408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22576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  แผนปี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2576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เปิดกรอบปีงบ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96512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  คำของบ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หน่วยงานกรอกขอ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71616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  อนุมัติ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งานงบจัดสรร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20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C47E14"/>
          </a:solidFill>
          <a:ln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  ใช้งบ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PR → PO → บิล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21824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22992" y="1463040"/>
            <a:ext cx="1847088" cy="530352"/>
          </a:xfrm>
          <a:prstGeom prst="roundRect">
            <a:avLst>
              <a:gd name="adj" fmla="val 6000"/>
            </a:avLst>
          </a:prstGeom>
          <a:solidFill>
            <a:srgbClr val="2C7A45"/>
          </a:solidFill>
          <a:ln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6  ดูคงเหลือ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2992" y="2029968"/>
            <a:ext cx="184708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4434840"/>
            <a:ext cx="11475720" cy="1874519"/>
          </a:xfrm>
          <a:prstGeom prst="roundRect">
            <a:avLst>
              <a:gd name="adj" fmla="val 6000"/>
            </a:avLst>
          </a:prstGeom>
          <a:solidFill>
            <a:srgbClr val="E5F5F3"/>
          </a:solidFill>
          <a:ln w="15875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พูดกับผู้ใช้แบบนี้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แผนปีเป็นกรอบ หน่วยงานของบเข้าไปในกรอบนี้
งานงบเป็นคนบอกว่าใช้ได้เท่าไร   การซื้อของต้องมีเอกสารจัดซื้อ ระบบจะกันเงินให้เอง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เลือกใบให้ถูก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คำของบมีแค่ 4 แบบฟอร์ม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27889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40080" cy="50292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4231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แบบฟอร์มตั้งงบวัสดุ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65760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ยา เวชภัณฑ์ วัสดุทั่วไป
ต้องมีรายละเอียดสินค้า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7889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1737360"/>
            <a:ext cx="640080" cy="50292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231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แบบฟอร์มครุภัณฑ์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เครื่องมือ เครื่องใช้
คอมพิวเตอร์ รวมใบนี้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08760"/>
            <a:ext cx="27889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7376" y="1737360"/>
            <a:ext cx="640080" cy="502920"/>
          </a:xfrm>
          <a:prstGeom prst="roundRect">
            <a:avLst>
              <a:gd name="adj" fmla="val 6000"/>
            </a:avLst>
          </a:prstGeom>
          <a:solidFill>
            <a:srgbClr val="C47E14"/>
          </a:solidFill>
          <a:ln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231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แบบฟอร์ม ก่อสร้าง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5760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งานซ่อม ต่อเติม อาคาร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508760"/>
            <a:ext cx="27889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81744" y="1737360"/>
            <a:ext cx="640080" cy="502920"/>
          </a:xfrm>
          <a:prstGeom prst="roundRect">
            <a:avLst>
              <a:gd name="adj" fmla="val 6000"/>
            </a:avLst>
          </a:prstGeom>
          <a:solidFill>
            <a:srgbClr val="2C7A45"/>
          </a:solidFill>
          <a:ln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4231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แบบฟอร์มโครงการ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65760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ค่าใช้จ่ายโครงการ
กิจกรรมต่างๆ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ช่วงตั้งงบ  ·  หน่วยงาน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หน่วยงานทำ 3 อย่างนี้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77724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190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สร้างคำของบ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128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เลือกหน่วยงาน แหล่งเงิน แผนปี และแบบฟอร์ม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77724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73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กรอกรายการ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673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ใส่ของที่ต้องการ พร้อมเหตุผล ว่างไม่ได้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937760"/>
            <a:ext cx="77724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828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กดส่งงานงบ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21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ส่งแล้วแก้เองไม่ได้ ต้องรองานงบรับเรื่อง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ช่วงตั้งงบ  ·  งานงบประมาณ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งานงบเป็นคนปิดงานให้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รับเรื่อง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รับเข้าคิว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44952" y="246888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พิจารณา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ดูรายการ ปรับได้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71032" y="246888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ใส่ยอดจัดสรร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ต้องครบทุกบรรทัด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97112" y="246888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อนุมัติ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เข้าแผนปีทันที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39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9050">
            <a:solidFill>
              <a:srgbClr val="B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B4433A"/>
                </a:solidFill>
                <a:latin typeface="Prompt"/>
                <a:ea typeface="Prompt"/>
                <a:cs typeface="Prompt"/>
              </a:rPr>
              <a:t>ถ้าไม่ผ่าน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B4433A"/>
                </a:solidFill>
                <a:latin typeface="Prompt"/>
                <a:ea typeface="Prompt"/>
                <a:cs typeface="Prompt"/>
              </a:rPr>
              <a:t>ตีกลับ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หน่วยงานแก้ แล้วส่งใหม่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E5F5EA"/>
          </a:solidFill>
          <a:ln w="1905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ถ้าผ่าน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ได้วงเงินใช้จ่าย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ใช้ได้เท่าที่จัดสรร ไม่ใช่เท่าที่ขอ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ช่วงใช้งบ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ซื้อของทีละใบ ตามนี้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17627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ร่าง PR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ยังไม่กันเงิน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50591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554480"/>
            <a:ext cx="217627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เช็คงบ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พอไหม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82311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217627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ส่ง PR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จองงบ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14031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1554480"/>
            <a:ext cx="217627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ยืนยัน PO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ผูกพันงบ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45751" y="2880360"/>
            <a:ext cx="237744" cy="146304"/>
          </a:xfrm>
          <a:prstGeom prst="rightArrow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554480"/>
            <a:ext cx="217627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ตั้งเจ้าหนี้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ใช้จริง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663440"/>
            <a:ext cx="3730752" cy="160020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B4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B4433A"/>
                </a:solidFill>
                <a:latin typeface="Prompt"/>
                <a:ea typeface="Prompt"/>
                <a:cs typeface="Prompt"/>
              </a:rPr>
              <a:t>เช็คงบไม่ผ่าน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ส่งอนุมัติไม่ได้ ต้องลดยอดหรือเลือกงบให้ถูก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663440"/>
            <a:ext cx="3730752" cy="1600200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 w="15875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ส่ง PR แล้ว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เงินถูกกันไว้ ใบอื่นใช้วงเงินซ้ำไม่ได้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663440"/>
            <a:ext cx="3730752" cy="1600200"/>
          </a:xfrm>
          <a:prstGeom prst="roundRect">
            <a:avLst>
              <a:gd name="adj" fmla="val 6000"/>
            </a:avLst>
          </a:prstGeom>
          <a:solidFill>
            <a:srgbClr val="E5F5EA"/>
          </a:solidFill>
          <a:ln w="15875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มีบิลแล้ว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เงินกลายเป็นใช้จริง คงเหลือลดลงถาวร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ตัวเลขที่ต้องจำ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คงเหลือดูจากสูตรนี้สูตรเดียว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1430000" cy="10972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คงเหลือ  =  งบจัดสรร  −  ใช้จริง  −  จอง PR  −  ผูกพัน 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1,000,000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งบจัดสรร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ที่อนุมัติในแผน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74320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250,000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ใช้จริง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บิลที่โพสต์แล้ว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74320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150,000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จอง PR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ส่งแล้วยังไม่ครบ 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4320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200,000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ผูกพัน PO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PO ยังไม่ครบบิล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743200"/>
            <a:ext cx="2194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400,000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คงเหลือ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ซื้อเพิ่มได้เท่านั้น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ถ้าเช็คงบไม่ผ่าน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ดูให้ครบ 4 อย่างนี้ก่อน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หน่วยงาน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แผนกที่ขอต้องตรงกับงบในแผน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7373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แหล่งเงิน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เงินบำรุง / งบประมาณ / เงินบริจาค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หมวดงบ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วัสดุ ครุภัณฑ์ ก่อสร้าง โครงการ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623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406908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14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กลุ่มวัสดุ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9204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ใช้เฉพาะตอนซื้อวัสดุ เช่น ยา เวชภัณฑ์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ใครกดอะไร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จำบทบาทตัวเองให้ชัด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788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0F7A72"/>
                </a:solidFill>
                <a:latin typeface="Prompt"/>
                <a:ea typeface="Prompt"/>
                <a:cs typeface="Prompt"/>
              </a:rPr>
              <a:t>หน่วยงาน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สร้างคำของบ แล้วส่ง
สร้างใบขอซื้อ เช็คงบ ส่งอนุมัติ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554480"/>
            <a:ext cx="2788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4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7E14"/>
                </a:solidFill>
                <a:latin typeface="Prompt"/>
                <a:ea typeface="Prompt"/>
                <a:cs typeface="Prompt"/>
              </a:rPr>
              <a:t>งานงบประมาณ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ตั้งข้อมูลหลักและแผนปี
รับเรื่อง จัดสรร อนุมัติหรือตีกลับ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554480"/>
            <a:ext cx="2788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พัสดุ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ยืนยันใบสั่งซื้อ (PO)
ยอดจองจะกลายเป็นผูกพัน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8864" y="1554480"/>
            <a:ext cx="2788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C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C7A45"/>
                </a:solidFill>
                <a:latin typeface="Prompt"/>
                <a:ea typeface="Prompt"/>
                <a:cs typeface="Prompt"/>
              </a:rPr>
              <a:t>การเงิน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A48"/>
                </a:solidFill>
                <a:latin typeface="Prompt"/>
                <a:ea typeface="Prompt"/>
                <a:cs typeface="Prompt"/>
              </a:rPr>
              <a:t>ตั้งเจ้าหนี้จากใบแจ้งหนี้
ยอดกลายเป็นใช้จริง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ลำดับทดสอบวันนี้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ทำทีละข้อ ห้ามข้าม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8013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733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ตรวจข้อมูลหลัก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71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แหล่งเงิน หน่วยงาน แผน แบบฟอร์ม เลือกได้ครบ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2" y="18013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733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หน่วยงานของบวัสดุ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671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สร้าง แล้วส่งงานงบ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175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4015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735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งานงบอนุมัติ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673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ใส่ยอดจัดสรรครบ แล้วกดอนุมัติ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175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28232" y="34015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2735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PR เกินงบ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7673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ต้องขึ้นว่างบไม่พอ และส่งไม่ได้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6177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0352" y="50017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737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PR ในงบ แล้วส่ง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675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เงินถูกจอง คงเหลือลด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1772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28232" y="50017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23A56"/>
          </a:solidFill>
          <a:ln>
            <a:solidFill>
              <a:srgbClr val="12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873752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PO แล้วตั้งเจ้าหนี้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36752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ยอดย้าย จอง → ผูกพัน → ใช้จริง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ก่อนเปิดระบบ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11247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จำ 3 ข้อนี้ก็ไปต่อได้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822960" cy="73152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1907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ของบยังซื้อไม่ได้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6771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ต้องรออนุมัติเข้าแผนก่อน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822960" cy="73152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7355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ใช้ได้เท่าที่จัดสรร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22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ไม่ใช่เท่าที่ขอตอนต้นปี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822960" cy="73152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2803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3A56"/>
                </a:solidFill>
                <a:latin typeface="Prompt"/>
                <a:ea typeface="Prompt"/>
                <a:cs typeface="Prompt"/>
              </a:rPr>
              <a:t>ซื้อของต้องมี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37667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878"/>
                </a:solidFill>
                <a:latin typeface="Prompt"/>
                <a:ea typeface="Prompt"/>
                <a:cs typeface="Prompt"/>
              </a:rPr>
              <a:t>ส่งแล้วระบบกันเงินให้เอง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1111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โรงพยาบาลวชิระภูเก็ต  ·  อธิบายระบบงบประมาณให้ผู้ใช้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111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C9C4"/>
                </a:solidFill>
                <a:latin typeface="Prompt"/>
                <a:ea typeface="Prompt"/>
                <a:cs typeface="Prompt"/>
              </a:rPr>
              <a:t>พร้อมลงมือ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เริ่มที่ข้อมูลหลัก
ยังไม่ต้องเปิดใบซื้อ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7E4EE"/>
                </a:solidFill>
                <a:latin typeface="Prompt"/>
                <a:ea typeface="Prompt"/>
                <a:cs typeface="Prompt"/>
              </a:rPr>
              <a:t>เดินตามข้อ 1 ถึง 6 ทีละขั้น
ถ้าเช็คงบไม่ผ่าน ให้ดูหน่วยงาน แหล่งเงิน หมวดงบ และกลุ่มวัสดุ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0F7A72"/>
          </a:solidFill>
          <a:ln>
            <a:solidFill>
              <a:srgbClr val="0F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เริ่มข้อ 1 : ตรวจข้อมูลหลัก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